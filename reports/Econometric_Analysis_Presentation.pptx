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x="18288000" cy="10287000"/>
  <p:notesSz cx="6858000" cy="9144000"/>
  <p:embeddedFontLst>
    <p:embeddedFont>
      <p:font typeface="Bobby Jones" charset="1" panose="00000000000000000000"/>
      <p:regular r:id="rId27"/>
    </p:embeddedFont>
    <p:embeddedFont>
      <p:font typeface="Ballpoint" charset="1" panose="00000000000000000000"/>
      <p:regular r:id="rId28"/>
    </p:embeddedFont>
    <p:embeddedFont>
      <p:font typeface="Bobby Jones Soft" charset="1" panose="00000000000000000000"/>
      <p:regular r:id="rId29"/>
    </p:embeddedFont>
    <p:embeddedFont>
      <p:font typeface="Aristotelica Pro" charset="1" panose="00000500000000000000"/>
      <p:regular r:id="rId30"/>
    </p:embeddedFont>
    <p:embeddedFont>
      <p:font typeface="Lato Heavy" charset="1" panose="020F0502020204030203"/>
      <p:regular r:id="rId31"/>
    </p:embeddedFont>
    <p:embeddedFont>
      <p:font typeface="Canva Sans" charset="1" panose="020B0503030501040103"/>
      <p:regular r:id="rId3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.png" Type="http://schemas.openxmlformats.org/officeDocument/2006/relationships/image"/><Relationship Id="rId11" Target="../media/image11.svg" Type="http://schemas.openxmlformats.org/officeDocument/2006/relationships/image"/><Relationship Id="rId2" Target="../media/image2.jpe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7.png" Type="http://schemas.openxmlformats.org/officeDocument/2006/relationships/image"/><Relationship Id="rId8" Target="../media/image8.svg" Type="http://schemas.openxmlformats.org/officeDocument/2006/relationships/image"/><Relationship Id="rId9" Target="../media/image9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12.png" Type="http://schemas.openxmlformats.org/officeDocument/2006/relationships/image"/><Relationship Id="rId4" Target="../media/image1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1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1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1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1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18.png" Type="http://schemas.openxmlformats.org/officeDocument/2006/relationships/image"/><Relationship Id="rId4" Target="../media/image19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20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21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22.png" Type="http://schemas.openxmlformats.org/officeDocument/2006/relationships/image"/><Relationship Id="rId4" Target="../media/image23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24.png" Type="http://schemas.openxmlformats.org/officeDocument/2006/relationships/image"/><Relationship Id="rId4" Target="../media/image25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26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27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28.png" Type="http://schemas.openxmlformats.org/officeDocument/2006/relationships/image"/><Relationship Id="rId4" Target="../media/image29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30.png" Type="http://schemas.openxmlformats.org/officeDocument/2006/relationships/image"/><Relationship Id="rId4" Target="../media/image31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32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33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34.png" Type="http://schemas.openxmlformats.org/officeDocument/2006/relationships/image"/><Relationship Id="rId4" Target="../media/image35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36.png" Type="http://schemas.openxmlformats.org/officeDocument/2006/relationships/image"/><Relationship Id="rId4" Target="../media/image37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6E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1171066"/>
            <a:ext cx="17658490" cy="9115934"/>
          </a:xfrm>
          <a:custGeom>
            <a:avLst/>
            <a:gdLst/>
            <a:ahLst/>
            <a:cxnLst/>
            <a:rect r="r" b="b" t="t" l="l"/>
            <a:pathLst>
              <a:path h="9115934" w="17658490">
                <a:moveTo>
                  <a:pt x="0" y="0"/>
                </a:moveTo>
                <a:lnTo>
                  <a:pt x="17658490" y="0"/>
                </a:lnTo>
                <a:lnTo>
                  <a:pt x="17658490" y="9115934"/>
                </a:lnTo>
                <a:lnTo>
                  <a:pt x="0" y="911593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71" t="0" r="-1271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128414" y="-66675"/>
            <a:ext cx="14031171" cy="12377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18"/>
              </a:lnSpc>
            </a:pPr>
            <a:r>
              <a:rPr lang="en-US" sz="7694" spc="384">
                <a:solidFill>
                  <a:srgbClr val="282938"/>
                </a:solidFill>
                <a:latin typeface="Bobby Jones"/>
                <a:ea typeface="Bobby Jones"/>
                <a:cs typeface="Bobby Jones"/>
                <a:sym typeface="Bobby Jones"/>
              </a:rPr>
              <a:t>ECONOMETRIC ANALYSIS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77001" y="2741135"/>
            <a:ext cx="2865611" cy="5994660"/>
            <a:chOff x="0" y="0"/>
            <a:chExt cx="1357998" cy="284083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39974" y="45156"/>
              <a:ext cx="1318023" cy="2794976"/>
            </a:xfrm>
            <a:custGeom>
              <a:avLst/>
              <a:gdLst/>
              <a:ahLst/>
              <a:cxnLst/>
              <a:rect r="r" b="b" t="t" l="l"/>
              <a:pathLst>
                <a:path h="2794976" w="1318023">
                  <a:moveTo>
                    <a:pt x="666" y="2765201"/>
                  </a:moveTo>
                  <a:cubicBezTo>
                    <a:pt x="-1874" y="2774091"/>
                    <a:pt x="3206" y="2780441"/>
                    <a:pt x="9981" y="2781711"/>
                  </a:cubicBezTo>
                  <a:cubicBezTo>
                    <a:pt x="17676" y="2782981"/>
                    <a:pt x="24408" y="2782981"/>
                    <a:pt x="32102" y="2782981"/>
                  </a:cubicBezTo>
                  <a:cubicBezTo>
                    <a:pt x="62879" y="2784251"/>
                    <a:pt x="93656" y="2784251"/>
                    <a:pt x="125394" y="2785521"/>
                  </a:cubicBezTo>
                  <a:cubicBezTo>
                    <a:pt x="142706" y="2786791"/>
                    <a:pt x="160018" y="2788061"/>
                    <a:pt x="176368" y="2789331"/>
                  </a:cubicBezTo>
                  <a:cubicBezTo>
                    <a:pt x="205221" y="2790601"/>
                    <a:pt x="233113" y="2790601"/>
                    <a:pt x="261966" y="2791871"/>
                  </a:cubicBezTo>
                  <a:cubicBezTo>
                    <a:pt x="273507" y="2791871"/>
                    <a:pt x="284087" y="2791871"/>
                    <a:pt x="295628" y="2790601"/>
                  </a:cubicBezTo>
                  <a:cubicBezTo>
                    <a:pt x="300437" y="2790601"/>
                    <a:pt x="306208" y="2789331"/>
                    <a:pt x="311016" y="2789331"/>
                  </a:cubicBezTo>
                  <a:cubicBezTo>
                    <a:pt x="330252" y="2790601"/>
                    <a:pt x="714961" y="2781711"/>
                    <a:pt x="734197" y="2782981"/>
                  </a:cubicBezTo>
                  <a:cubicBezTo>
                    <a:pt x="761126" y="2784251"/>
                    <a:pt x="835183" y="2784251"/>
                    <a:pt x="862112" y="2784251"/>
                  </a:cubicBezTo>
                  <a:cubicBezTo>
                    <a:pt x="872692" y="2784251"/>
                    <a:pt x="882310" y="2782981"/>
                    <a:pt x="892889" y="2782981"/>
                  </a:cubicBezTo>
                  <a:lnTo>
                    <a:pt x="944825" y="2786791"/>
                  </a:lnTo>
                  <a:cubicBezTo>
                    <a:pt x="982334" y="2789331"/>
                    <a:pt x="1018881" y="2786791"/>
                    <a:pt x="1056391" y="2790601"/>
                  </a:cubicBezTo>
                  <a:cubicBezTo>
                    <a:pt x="1118906" y="2795681"/>
                    <a:pt x="1182383" y="2789331"/>
                    <a:pt x="1254524" y="2794411"/>
                  </a:cubicBezTo>
                  <a:cubicBezTo>
                    <a:pt x="1274844" y="2795681"/>
                    <a:pt x="1295163" y="2794411"/>
                    <a:pt x="1318024" y="2794411"/>
                  </a:cubicBezTo>
                  <a:lnTo>
                    <a:pt x="1318024" y="2734721"/>
                  </a:lnTo>
                  <a:cubicBezTo>
                    <a:pt x="1316753" y="2645032"/>
                    <a:pt x="1315484" y="2542168"/>
                    <a:pt x="1315484" y="2432874"/>
                  </a:cubicBezTo>
                  <a:cubicBezTo>
                    <a:pt x="1315484" y="2306437"/>
                    <a:pt x="1319294" y="2177857"/>
                    <a:pt x="1312944" y="2051419"/>
                  </a:cubicBezTo>
                  <a:cubicBezTo>
                    <a:pt x="1305324" y="1967842"/>
                    <a:pt x="1293894" y="319870"/>
                    <a:pt x="1293894" y="236293"/>
                  </a:cubicBezTo>
                  <a:cubicBezTo>
                    <a:pt x="1291353" y="178432"/>
                    <a:pt x="1290084" y="118427"/>
                    <a:pt x="1287544" y="60566"/>
                  </a:cubicBezTo>
                  <a:cubicBezTo>
                    <a:pt x="1287544" y="43422"/>
                    <a:pt x="1286274" y="26278"/>
                    <a:pt x="1285003" y="5644"/>
                  </a:cubicBezTo>
                  <a:cubicBezTo>
                    <a:pt x="1274844" y="3104"/>
                    <a:pt x="1265953" y="1834"/>
                    <a:pt x="1255794" y="564"/>
                  </a:cubicBezTo>
                  <a:cubicBezTo>
                    <a:pt x="1248174" y="-706"/>
                    <a:pt x="1240553" y="564"/>
                    <a:pt x="1234203" y="564"/>
                  </a:cubicBezTo>
                  <a:lnTo>
                    <a:pt x="5173" y="5644"/>
                  </a:lnTo>
                  <a:lnTo>
                    <a:pt x="666" y="2765201"/>
                  </a:lnTo>
                  <a:close/>
                </a:path>
              </a:pathLst>
            </a:custGeom>
            <a:solidFill>
              <a:srgbClr val="AABCEE"/>
            </a:solid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1430" y="16510"/>
              <a:ext cx="1297038" cy="2786227"/>
            </a:xfrm>
            <a:custGeom>
              <a:avLst/>
              <a:gdLst/>
              <a:ahLst/>
              <a:cxnLst/>
              <a:rect r="r" b="b" t="t" l="l"/>
              <a:pathLst>
                <a:path h="2786227" w="1297038">
                  <a:moveTo>
                    <a:pt x="1297038" y="2786227"/>
                  </a:moveTo>
                  <a:lnTo>
                    <a:pt x="0" y="2778607"/>
                  </a:lnTo>
                  <a:lnTo>
                    <a:pt x="0" y="984989"/>
                  </a:lnTo>
                  <a:lnTo>
                    <a:pt x="7620" y="20320"/>
                  </a:lnTo>
                  <a:lnTo>
                    <a:pt x="642519" y="0"/>
                  </a:lnTo>
                  <a:lnTo>
                    <a:pt x="1275448" y="8890"/>
                  </a:lnTo>
                  <a:close/>
                </a:path>
              </a:pathLst>
            </a:custGeom>
            <a:solidFill>
              <a:srgbClr val="C7D5FD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-215" y="0"/>
              <a:ext cx="1321382" cy="2812191"/>
            </a:xfrm>
            <a:custGeom>
              <a:avLst/>
              <a:gdLst/>
              <a:ahLst/>
              <a:cxnLst/>
              <a:rect r="r" b="b" t="t" l="l"/>
              <a:pathLst>
                <a:path h="2812191" w="1321382">
                  <a:moveTo>
                    <a:pt x="1288363" y="21590"/>
                  </a:moveTo>
                  <a:cubicBezTo>
                    <a:pt x="1289633" y="34290"/>
                    <a:pt x="1289633" y="44450"/>
                    <a:pt x="1290902" y="56433"/>
                  </a:cubicBezTo>
                  <a:cubicBezTo>
                    <a:pt x="1293442" y="114294"/>
                    <a:pt x="1294713" y="174298"/>
                    <a:pt x="1297252" y="232160"/>
                  </a:cubicBezTo>
                  <a:cubicBezTo>
                    <a:pt x="1297252" y="315737"/>
                    <a:pt x="1309952" y="1963709"/>
                    <a:pt x="1316302" y="2047286"/>
                  </a:cubicBezTo>
                  <a:cubicBezTo>
                    <a:pt x="1322652" y="2173723"/>
                    <a:pt x="1318842" y="2302304"/>
                    <a:pt x="1318842" y="2428741"/>
                  </a:cubicBezTo>
                  <a:cubicBezTo>
                    <a:pt x="1318842" y="2540177"/>
                    <a:pt x="1320113" y="2643042"/>
                    <a:pt x="1321383" y="2751937"/>
                  </a:cubicBezTo>
                  <a:lnTo>
                    <a:pt x="1321383" y="2811627"/>
                  </a:lnTo>
                  <a:cubicBezTo>
                    <a:pt x="1298523" y="2811627"/>
                    <a:pt x="1278202" y="2812897"/>
                    <a:pt x="1257883" y="2811627"/>
                  </a:cubicBezTo>
                  <a:cubicBezTo>
                    <a:pt x="1194680" y="2806547"/>
                    <a:pt x="1131203" y="2812897"/>
                    <a:pt x="1068688" y="2807817"/>
                  </a:cubicBezTo>
                  <a:cubicBezTo>
                    <a:pt x="1031179" y="2804007"/>
                    <a:pt x="994632" y="2806547"/>
                    <a:pt x="957122" y="2804007"/>
                  </a:cubicBezTo>
                  <a:lnTo>
                    <a:pt x="905187" y="2800197"/>
                  </a:lnTo>
                  <a:cubicBezTo>
                    <a:pt x="894607" y="2800197"/>
                    <a:pt x="884989" y="2801467"/>
                    <a:pt x="874410" y="2801467"/>
                  </a:cubicBezTo>
                  <a:cubicBezTo>
                    <a:pt x="847480" y="2800197"/>
                    <a:pt x="773424" y="2801467"/>
                    <a:pt x="746494" y="2800197"/>
                  </a:cubicBezTo>
                  <a:cubicBezTo>
                    <a:pt x="727259" y="2798927"/>
                    <a:pt x="342549" y="2807817"/>
                    <a:pt x="323314" y="2806547"/>
                  </a:cubicBezTo>
                  <a:cubicBezTo>
                    <a:pt x="318505" y="2806547"/>
                    <a:pt x="312734" y="2807817"/>
                    <a:pt x="307926" y="2807817"/>
                  </a:cubicBezTo>
                  <a:cubicBezTo>
                    <a:pt x="296384" y="2807817"/>
                    <a:pt x="285805" y="2809087"/>
                    <a:pt x="274264" y="2809087"/>
                  </a:cubicBezTo>
                  <a:cubicBezTo>
                    <a:pt x="245410" y="2809087"/>
                    <a:pt x="217519" y="2807817"/>
                    <a:pt x="188666" y="2806547"/>
                  </a:cubicBezTo>
                  <a:cubicBezTo>
                    <a:pt x="171354" y="2805277"/>
                    <a:pt x="154042" y="2804007"/>
                    <a:pt x="137692" y="2802737"/>
                  </a:cubicBezTo>
                  <a:cubicBezTo>
                    <a:pt x="106915" y="2801467"/>
                    <a:pt x="76138" y="2800197"/>
                    <a:pt x="44400" y="2800197"/>
                  </a:cubicBezTo>
                  <a:cubicBezTo>
                    <a:pt x="34505" y="2800197"/>
                    <a:pt x="25615" y="2800197"/>
                    <a:pt x="15455" y="2798927"/>
                  </a:cubicBezTo>
                  <a:cubicBezTo>
                    <a:pt x="6565" y="2797657"/>
                    <a:pt x="1485" y="2791307"/>
                    <a:pt x="4025" y="2782417"/>
                  </a:cubicBezTo>
                  <a:cubicBezTo>
                    <a:pt x="12915" y="2750192"/>
                    <a:pt x="9105" y="2696617"/>
                    <a:pt x="7835" y="2640899"/>
                  </a:cubicBezTo>
                  <a:cubicBezTo>
                    <a:pt x="6565" y="2527319"/>
                    <a:pt x="2755" y="2415883"/>
                    <a:pt x="4025" y="2302304"/>
                  </a:cubicBezTo>
                  <a:cubicBezTo>
                    <a:pt x="1485" y="2160865"/>
                    <a:pt x="-3595" y="410029"/>
                    <a:pt x="4025" y="266448"/>
                  </a:cubicBezTo>
                  <a:cubicBezTo>
                    <a:pt x="5295" y="238588"/>
                    <a:pt x="4025" y="208586"/>
                    <a:pt x="5295" y="180727"/>
                  </a:cubicBezTo>
                  <a:cubicBezTo>
                    <a:pt x="6565" y="135724"/>
                    <a:pt x="9105" y="86435"/>
                    <a:pt x="10375" y="44450"/>
                  </a:cubicBezTo>
                  <a:cubicBezTo>
                    <a:pt x="10375" y="41910"/>
                    <a:pt x="11645" y="39370"/>
                    <a:pt x="12915" y="38100"/>
                  </a:cubicBezTo>
                  <a:cubicBezTo>
                    <a:pt x="34505" y="35560"/>
                    <a:pt x="52094" y="30480"/>
                    <a:pt x="67482" y="29210"/>
                  </a:cubicBezTo>
                  <a:cubicBezTo>
                    <a:pt x="93450" y="25400"/>
                    <a:pt x="119418" y="22860"/>
                    <a:pt x="146348" y="20320"/>
                  </a:cubicBezTo>
                  <a:cubicBezTo>
                    <a:pt x="164621" y="17780"/>
                    <a:pt x="182895" y="16510"/>
                    <a:pt x="200207" y="13970"/>
                  </a:cubicBezTo>
                  <a:cubicBezTo>
                    <a:pt x="217519" y="11430"/>
                    <a:pt x="235793" y="8890"/>
                    <a:pt x="253105" y="8890"/>
                  </a:cubicBezTo>
                  <a:cubicBezTo>
                    <a:pt x="272340" y="7620"/>
                    <a:pt x="291575" y="10160"/>
                    <a:pt x="310811" y="8890"/>
                  </a:cubicBezTo>
                  <a:cubicBezTo>
                    <a:pt x="334855" y="8890"/>
                    <a:pt x="770538" y="6350"/>
                    <a:pt x="794583" y="5080"/>
                  </a:cubicBezTo>
                  <a:cubicBezTo>
                    <a:pt x="817665" y="3810"/>
                    <a:pt x="840748" y="2540"/>
                    <a:pt x="864792" y="2540"/>
                  </a:cubicBezTo>
                  <a:cubicBezTo>
                    <a:pt x="904225" y="1270"/>
                    <a:pt x="942696" y="0"/>
                    <a:pt x="982129" y="0"/>
                  </a:cubicBezTo>
                  <a:cubicBezTo>
                    <a:pt x="998479" y="0"/>
                    <a:pt x="1015791" y="2540"/>
                    <a:pt x="1032141" y="2540"/>
                  </a:cubicBezTo>
                  <a:cubicBezTo>
                    <a:pt x="1077344" y="3810"/>
                    <a:pt x="1123509" y="5080"/>
                    <a:pt x="1168712" y="7620"/>
                  </a:cubicBezTo>
                  <a:cubicBezTo>
                    <a:pt x="1192757" y="8890"/>
                    <a:pt x="1216801" y="12700"/>
                    <a:pt x="1240845" y="16510"/>
                  </a:cubicBezTo>
                  <a:lnTo>
                    <a:pt x="1257883" y="16510"/>
                  </a:lnTo>
                  <a:cubicBezTo>
                    <a:pt x="1269313" y="17780"/>
                    <a:pt x="1278202" y="20320"/>
                    <a:pt x="1288363" y="21590"/>
                  </a:cubicBezTo>
                  <a:close/>
                  <a:moveTo>
                    <a:pt x="1298523" y="2795117"/>
                  </a:moveTo>
                  <a:cubicBezTo>
                    <a:pt x="1299792" y="2778607"/>
                    <a:pt x="1301063" y="2765907"/>
                    <a:pt x="1301063" y="2753207"/>
                  </a:cubicBezTo>
                  <a:cubicBezTo>
                    <a:pt x="1299792" y="2632327"/>
                    <a:pt x="1298523" y="2518747"/>
                    <a:pt x="1298523" y="2396596"/>
                  </a:cubicBezTo>
                  <a:cubicBezTo>
                    <a:pt x="1298523" y="2340878"/>
                    <a:pt x="1301063" y="2285160"/>
                    <a:pt x="1299792" y="2229442"/>
                  </a:cubicBezTo>
                  <a:cubicBezTo>
                    <a:pt x="1299792" y="2178009"/>
                    <a:pt x="1298523" y="2124434"/>
                    <a:pt x="1297252" y="2073002"/>
                  </a:cubicBezTo>
                  <a:cubicBezTo>
                    <a:pt x="1292173" y="1993711"/>
                    <a:pt x="1280742" y="352168"/>
                    <a:pt x="1280742" y="272877"/>
                  </a:cubicBezTo>
                  <a:cubicBezTo>
                    <a:pt x="1278202" y="206444"/>
                    <a:pt x="1275663" y="137867"/>
                    <a:pt x="1273123" y="71434"/>
                  </a:cubicBezTo>
                  <a:cubicBezTo>
                    <a:pt x="1271852" y="44450"/>
                    <a:pt x="1270583" y="43180"/>
                    <a:pt x="1254310" y="41910"/>
                  </a:cubicBezTo>
                  <a:cubicBezTo>
                    <a:pt x="1251425" y="41910"/>
                    <a:pt x="1249501" y="41910"/>
                    <a:pt x="1246616" y="40640"/>
                  </a:cubicBezTo>
                  <a:cubicBezTo>
                    <a:pt x="1222572" y="36830"/>
                    <a:pt x="1197566" y="31750"/>
                    <a:pt x="1173521" y="30480"/>
                  </a:cubicBezTo>
                  <a:cubicBezTo>
                    <a:pt x="1114853" y="26670"/>
                    <a:pt x="1055223" y="25400"/>
                    <a:pt x="996555" y="22860"/>
                  </a:cubicBezTo>
                  <a:lnTo>
                    <a:pt x="927307" y="22860"/>
                  </a:lnTo>
                  <a:cubicBezTo>
                    <a:pt x="896531" y="22860"/>
                    <a:pt x="865754" y="22860"/>
                    <a:pt x="835939" y="24130"/>
                  </a:cubicBezTo>
                  <a:cubicBezTo>
                    <a:pt x="809971" y="25400"/>
                    <a:pt x="372364" y="29210"/>
                    <a:pt x="346397" y="29210"/>
                  </a:cubicBezTo>
                  <a:cubicBezTo>
                    <a:pt x="304079" y="29210"/>
                    <a:pt x="261760" y="26670"/>
                    <a:pt x="219442" y="33020"/>
                  </a:cubicBezTo>
                  <a:cubicBezTo>
                    <a:pt x="197322" y="36830"/>
                    <a:pt x="176163" y="36830"/>
                    <a:pt x="155004" y="38100"/>
                  </a:cubicBezTo>
                  <a:cubicBezTo>
                    <a:pt x="118456" y="41910"/>
                    <a:pt x="81909" y="45720"/>
                    <a:pt x="45362" y="50800"/>
                  </a:cubicBezTo>
                  <a:cubicBezTo>
                    <a:pt x="33235" y="50800"/>
                    <a:pt x="30695" y="54290"/>
                    <a:pt x="29425" y="80006"/>
                  </a:cubicBezTo>
                  <a:cubicBezTo>
                    <a:pt x="28155" y="118580"/>
                    <a:pt x="28155" y="157154"/>
                    <a:pt x="26885" y="195728"/>
                  </a:cubicBezTo>
                  <a:cubicBezTo>
                    <a:pt x="25615" y="260019"/>
                    <a:pt x="23075" y="322166"/>
                    <a:pt x="21805" y="386456"/>
                  </a:cubicBezTo>
                  <a:cubicBezTo>
                    <a:pt x="16725" y="455032"/>
                    <a:pt x="23075" y="2130863"/>
                    <a:pt x="25615" y="2199440"/>
                  </a:cubicBezTo>
                  <a:cubicBezTo>
                    <a:pt x="25615" y="2272302"/>
                    <a:pt x="25615" y="2347307"/>
                    <a:pt x="26885" y="2420169"/>
                  </a:cubicBezTo>
                  <a:cubicBezTo>
                    <a:pt x="26885" y="2473744"/>
                    <a:pt x="29425" y="2527319"/>
                    <a:pt x="29425" y="2580895"/>
                  </a:cubicBezTo>
                  <a:cubicBezTo>
                    <a:pt x="29425" y="2638756"/>
                    <a:pt x="29425" y="2696617"/>
                    <a:pt x="28155" y="2753207"/>
                  </a:cubicBezTo>
                  <a:lnTo>
                    <a:pt x="28155" y="2763367"/>
                  </a:lnTo>
                  <a:cubicBezTo>
                    <a:pt x="28155" y="2773527"/>
                    <a:pt x="31965" y="2777337"/>
                    <a:pt x="40855" y="2777337"/>
                  </a:cubicBezTo>
                  <a:cubicBezTo>
                    <a:pt x="54018" y="2777337"/>
                    <a:pt x="67482" y="2778607"/>
                    <a:pt x="79985" y="2778607"/>
                  </a:cubicBezTo>
                  <a:cubicBezTo>
                    <a:pt x="98259" y="2778607"/>
                    <a:pt x="117495" y="2776067"/>
                    <a:pt x="135768" y="2778607"/>
                  </a:cubicBezTo>
                  <a:cubicBezTo>
                    <a:pt x="165583" y="2782417"/>
                    <a:pt x="195398" y="2784957"/>
                    <a:pt x="225213" y="2783687"/>
                  </a:cubicBezTo>
                  <a:cubicBezTo>
                    <a:pt x="244449" y="2782417"/>
                    <a:pt x="262722" y="2784957"/>
                    <a:pt x="281958" y="2784957"/>
                  </a:cubicBezTo>
                  <a:cubicBezTo>
                    <a:pt x="309849" y="2784957"/>
                    <a:pt x="337741" y="2783687"/>
                    <a:pt x="365632" y="2784957"/>
                  </a:cubicBezTo>
                  <a:cubicBezTo>
                    <a:pt x="406988" y="2786227"/>
                    <a:pt x="860945" y="2776067"/>
                    <a:pt x="903263" y="2778607"/>
                  </a:cubicBezTo>
                  <a:cubicBezTo>
                    <a:pt x="921537" y="2779877"/>
                    <a:pt x="939810" y="2781147"/>
                    <a:pt x="957122" y="2781147"/>
                  </a:cubicBezTo>
                  <a:cubicBezTo>
                    <a:pt x="988861" y="2783687"/>
                    <a:pt x="1019638" y="2779877"/>
                    <a:pt x="1051376" y="2783687"/>
                  </a:cubicBezTo>
                  <a:cubicBezTo>
                    <a:pt x="1077344" y="2786227"/>
                    <a:pt x="1103312" y="2786227"/>
                    <a:pt x="1129280" y="2788767"/>
                  </a:cubicBezTo>
                  <a:cubicBezTo>
                    <a:pt x="1167751" y="2792577"/>
                    <a:pt x="1206222" y="2795117"/>
                    <a:pt x="1244693" y="2796387"/>
                  </a:cubicBezTo>
                  <a:cubicBezTo>
                    <a:pt x="1260423" y="2796387"/>
                    <a:pt x="1278202" y="2795117"/>
                    <a:pt x="1298523" y="2795117"/>
                  </a:cubicBezTo>
                  <a:close/>
                </a:path>
              </a:pathLst>
            </a:custGeom>
            <a:solidFill>
              <a:srgbClr val="2A2B39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4270918" y="2741135"/>
            <a:ext cx="3026544" cy="5994660"/>
            <a:chOff x="0" y="0"/>
            <a:chExt cx="1434263" cy="284083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39977" y="45156"/>
              <a:ext cx="1394286" cy="2794976"/>
            </a:xfrm>
            <a:custGeom>
              <a:avLst/>
              <a:gdLst/>
              <a:ahLst/>
              <a:cxnLst/>
              <a:rect r="r" b="b" t="t" l="l"/>
              <a:pathLst>
                <a:path h="2794976" w="1394286">
                  <a:moveTo>
                    <a:pt x="663" y="2765201"/>
                  </a:moveTo>
                  <a:cubicBezTo>
                    <a:pt x="-1877" y="2774091"/>
                    <a:pt x="3203" y="2780441"/>
                    <a:pt x="10394" y="2781711"/>
                  </a:cubicBezTo>
                  <a:cubicBezTo>
                    <a:pt x="18572" y="2782981"/>
                    <a:pt x="25729" y="2782981"/>
                    <a:pt x="33907" y="2782981"/>
                  </a:cubicBezTo>
                  <a:cubicBezTo>
                    <a:pt x="66621" y="2784251"/>
                    <a:pt x="99336" y="2784251"/>
                    <a:pt x="133072" y="2785521"/>
                  </a:cubicBezTo>
                  <a:cubicBezTo>
                    <a:pt x="151474" y="2786791"/>
                    <a:pt x="169875" y="2788061"/>
                    <a:pt x="187255" y="2789331"/>
                  </a:cubicBezTo>
                  <a:cubicBezTo>
                    <a:pt x="217924" y="2790601"/>
                    <a:pt x="247572" y="2790601"/>
                    <a:pt x="278241" y="2791871"/>
                  </a:cubicBezTo>
                  <a:cubicBezTo>
                    <a:pt x="290509" y="2791871"/>
                    <a:pt x="301755" y="2791871"/>
                    <a:pt x="314022" y="2790601"/>
                  </a:cubicBezTo>
                  <a:cubicBezTo>
                    <a:pt x="319134" y="2790601"/>
                    <a:pt x="325268" y="2789331"/>
                    <a:pt x="330380" y="2789331"/>
                  </a:cubicBezTo>
                  <a:cubicBezTo>
                    <a:pt x="350826" y="2790601"/>
                    <a:pt x="759753" y="2781711"/>
                    <a:pt x="780200" y="2782981"/>
                  </a:cubicBezTo>
                  <a:cubicBezTo>
                    <a:pt x="808825" y="2784251"/>
                    <a:pt x="887543" y="2784251"/>
                    <a:pt x="916168" y="2784251"/>
                  </a:cubicBezTo>
                  <a:cubicBezTo>
                    <a:pt x="927414" y="2784251"/>
                    <a:pt x="937637" y="2782981"/>
                    <a:pt x="948882" y="2782981"/>
                  </a:cubicBezTo>
                  <a:lnTo>
                    <a:pt x="1004087" y="2786791"/>
                  </a:lnTo>
                  <a:cubicBezTo>
                    <a:pt x="1043958" y="2789331"/>
                    <a:pt x="1082806" y="2786791"/>
                    <a:pt x="1122676" y="2790601"/>
                  </a:cubicBezTo>
                  <a:cubicBezTo>
                    <a:pt x="1189127" y="2795681"/>
                    <a:pt x="1256600" y="2789331"/>
                    <a:pt x="1330786" y="2794411"/>
                  </a:cubicBezTo>
                  <a:cubicBezTo>
                    <a:pt x="1351106" y="2795681"/>
                    <a:pt x="1371426" y="2794411"/>
                    <a:pt x="1394286" y="2794411"/>
                  </a:cubicBezTo>
                  <a:lnTo>
                    <a:pt x="1394286" y="2734721"/>
                  </a:lnTo>
                  <a:cubicBezTo>
                    <a:pt x="1393015" y="2645032"/>
                    <a:pt x="1391746" y="2542168"/>
                    <a:pt x="1391746" y="2432874"/>
                  </a:cubicBezTo>
                  <a:cubicBezTo>
                    <a:pt x="1391746" y="2306437"/>
                    <a:pt x="1395556" y="2177857"/>
                    <a:pt x="1389206" y="2051419"/>
                  </a:cubicBezTo>
                  <a:cubicBezTo>
                    <a:pt x="1381586" y="1967842"/>
                    <a:pt x="1370156" y="319870"/>
                    <a:pt x="1370156" y="236293"/>
                  </a:cubicBezTo>
                  <a:cubicBezTo>
                    <a:pt x="1367615" y="178432"/>
                    <a:pt x="1366346" y="118427"/>
                    <a:pt x="1363806" y="60566"/>
                  </a:cubicBezTo>
                  <a:cubicBezTo>
                    <a:pt x="1363806" y="43422"/>
                    <a:pt x="1362536" y="26278"/>
                    <a:pt x="1361265" y="5644"/>
                  </a:cubicBezTo>
                  <a:cubicBezTo>
                    <a:pt x="1351106" y="3104"/>
                    <a:pt x="1342215" y="1834"/>
                    <a:pt x="1332056" y="564"/>
                  </a:cubicBezTo>
                  <a:cubicBezTo>
                    <a:pt x="1324436" y="-706"/>
                    <a:pt x="1316815" y="564"/>
                    <a:pt x="1310465" y="564"/>
                  </a:cubicBezTo>
                  <a:lnTo>
                    <a:pt x="5282" y="5644"/>
                  </a:lnTo>
                  <a:lnTo>
                    <a:pt x="663" y="2765201"/>
                  </a:lnTo>
                  <a:close/>
                </a:path>
              </a:pathLst>
            </a:custGeom>
            <a:solidFill>
              <a:srgbClr val="76C5CB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1430" y="16510"/>
              <a:ext cx="1373303" cy="2786227"/>
            </a:xfrm>
            <a:custGeom>
              <a:avLst/>
              <a:gdLst/>
              <a:ahLst/>
              <a:cxnLst/>
              <a:rect r="r" b="b" t="t" l="l"/>
              <a:pathLst>
                <a:path h="2786227" w="1373303">
                  <a:moveTo>
                    <a:pt x="1373303" y="2786227"/>
                  </a:moveTo>
                  <a:lnTo>
                    <a:pt x="0" y="2778607"/>
                  </a:lnTo>
                  <a:lnTo>
                    <a:pt x="0" y="984989"/>
                  </a:lnTo>
                  <a:lnTo>
                    <a:pt x="7620" y="20320"/>
                  </a:lnTo>
                  <a:lnTo>
                    <a:pt x="680957" y="0"/>
                  </a:lnTo>
                  <a:lnTo>
                    <a:pt x="1351713" y="8890"/>
                  </a:lnTo>
                  <a:close/>
                </a:path>
              </a:pathLst>
            </a:custGeom>
            <a:solidFill>
              <a:srgbClr val="C7EBEE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-215" y="0"/>
              <a:ext cx="1397647" cy="2812191"/>
            </a:xfrm>
            <a:custGeom>
              <a:avLst/>
              <a:gdLst/>
              <a:ahLst/>
              <a:cxnLst/>
              <a:rect r="r" b="b" t="t" l="l"/>
              <a:pathLst>
                <a:path h="2812191" w="1397647">
                  <a:moveTo>
                    <a:pt x="1364628" y="21590"/>
                  </a:moveTo>
                  <a:cubicBezTo>
                    <a:pt x="1365898" y="34290"/>
                    <a:pt x="1365898" y="44450"/>
                    <a:pt x="1367168" y="56433"/>
                  </a:cubicBezTo>
                  <a:cubicBezTo>
                    <a:pt x="1369707" y="114294"/>
                    <a:pt x="1370978" y="174298"/>
                    <a:pt x="1373518" y="232160"/>
                  </a:cubicBezTo>
                  <a:cubicBezTo>
                    <a:pt x="1373518" y="315737"/>
                    <a:pt x="1386218" y="1963709"/>
                    <a:pt x="1392568" y="2047286"/>
                  </a:cubicBezTo>
                  <a:cubicBezTo>
                    <a:pt x="1398918" y="2173723"/>
                    <a:pt x="1395107" y="2302304"/>
                    <a:pt x="1395107" y="2428741"/>
                  </a:cubicBezTo>
                  <a:cubicBezTo>
                    <a:pt x="1395107" y="2540177"/>
                    <a:pt x="1396378" y="2643042"/>
                    <a:pt x="1397648" y="2751937"/>
                  </a:cubicBezTo>
                  <a:lnTo>
                    <a:pt x="1397648" y="2811627"/>
                  </a:lnTo>
                  <a:cubicBezTo>
                    <a:pt x="1374788" y="2811627"/>
                    <a:pt x="1354468" y="2812897"/>
                    <a:pt x="1334148" y="2811627"/>
                  </a:cubicBezTo>
                  <a:cubicBezTo>
                    <a:pt x="1267145" y="2806547"/>
                    <a:pt x="1199672" y="2812897"/>
                    <a:pt x="1133221" y="2807817"/>
                  </a:cubicBezTo>
                  <a:cubicBezTo>
                    <a:pt x="1093351" y="2804007"/>
                    <a:pt x="1054503" y="2806547"/>
                    <a:pt x="1014632" y="2804007"/>
                  </a:cubicBezTo>
                  <a:lnTo>
                    <a:pt x="959427" y="2800197"/>
                  </a:lnTo>
                  <a:cubicBezTo>
                    <a:pt x="948181" y="2800197"/>
                    <a:pt x="937958" y="2801467"/>
                    <a:pt x="926713" y="2801467"/>
                  </a:cubicBezTo>
                  <a:cubicBezTo>
                    <a:pt x="898088" y="2800197"/>
                    <a:pt x="819369" y="2801467"/>
                    <a:pt x="790744" y="2800197"/>
                  </a:cubicBezTo>
                  <a:cubicBezTo>
                    <a:pt x="770298" y="2798927"/>
                    <a:pt x="361371" y="2807817"/>
                    <a:pt x="340924" y="2806547"/>
                  </a:cubicBezTo>
                  <a:cubicBezTo>
                    <a:pt x="335813" y="2806547"/>
                    <a:pt x="329679" y="2807817"/>
                    <a:pt x="324567" y="2807817"/>
                  </a:cubicBezTo>
                  <a:cubicBezTo>
                    <a:pt x="312299" y="2807817"/>
                    <a:pt x="301054" y="2809087"/>
                    <a:pt x="288786" y="2809087"/>
                  </a:cubicBezTo>
                  <a:cubicBezTo>
                    <a:pt x="258116" y="2809087"/>
                    <a:pt x="228469" y="2807817"/>
                    <a:pt x="197800" y="2806547"/>
                  </a:cubicBezTo>
                  <a:cubicBezTo>
                    <a:pt x="179398" y="2805277"/>
                    <a:pt x="160996" y="2804007"/>
                    <a:pt x="143617" y="2802737"/>
                  </a:cubicBezTo>
                  <a:cubicBezTo>
                    <a:pt x="110903" y="2801467"/>
                    <a:pt x="78188" y="2800197"/>
                    <a:pt x="44452" y="2800197"/>
                  </a:cubicBezTo>
                  <a:cubicBezTo>
                    <a:pt x="34505" y="2800197"/>
                    <a:pt x="25615" y="2800197"/>
                    <a:pt x="15455" y="2798927"/>
                  </a:cubicBezTo>
                  <a:cubicBezTo>
                    <a:pt x="6565" y="2797657"/>
                    <a:pt x="1485" y="2791307"/>
                    <a:pt x="4025" y="2782417"/>
                  </a:cubicBezTo>
                  <a:cubicBezTo>
                    <a:pt x="12915" y="2750192"/>
                    <a:pt x="9105" y="2696617"/>
                    <a:pt x="7835" y="2640899"/>
                  </a:cubicBezTo>
                  <a:cubicBezTo>
                    <a:pt x="6565" y="2527319"/>
                    <a:pt x="2755" y="2415883"/>
                    <a:pt x="4025" y="2302304"/>
                  </a:cubicBezTo>
                  <a:cubicBezTo>
                    <a:pt x="1485" y="2160865"/>
                    <a:pt x="-3595" y="410029"/>
                    <a:pt x="4025" y="266448"/>
                  </a:cubicBezTo>
                  <a:cubicBezTo>
                    <a:pt x="5295" y="238588"/>
                    <a:pt x="4025" y="208586"/>
                    <a:pt x="5295" y="180727"/>
                  </a:cubicBezTo>
                  <a:cubicBezTo>
                    <a:pt x="6565" y="135724"/>
                    <a:pt x="9105" y="86435"/>
                    <a:pt x="10375" y="44450"/>
                  </a:cubicBezTo>
                  <a:cubicBezTo>
                    <a:pt x="10375" y="41910"/>
                    <a:pt x="11645" y="39370"/>
                    <a:pt x="12915" y="38100"/>
                  </a:cubicBezTo>
                  <a:cubicBezTo>
                    <a:pt x="34505" y="35560"/>
                    <a:pt x="52630" y="30480"/>
                    <a:pt x="68988" y="29210"/>
                  </a:cubicBezTo>
                  <a:cubicBezTo>
                    <a:pt x="96590" y="25400"/>
                    <a:pt x="124193" y="22860"/>
                    <a:pt x="152818" y="20320"/>
                  </a:cubicBezTo>
                  <a:cubicBezTo>
                    <a:pt x="172242" y="17780"/>
                    <a:pt x="191666" y="16510"/>
                    <a:pt x="210068" y="13970"/>
                  </a:cubicBezTo>
                  <a:cubicBezTo>
                    <a:pt x="228469" y="11430"/>
                    <a:pt x="247893" y="8890"/>
                    <a:pt x="266295" y="8890"/>
                  </a:cubicBezTo>
                  <a:cubicBezTo>
                    <a:pt x="286741" y="7620"/>
                    <a:pt x="307188" y="10160"/>
                    <a:pt x="327634" y="8890"/>
                  </a:cubicBezTo>
                  <a:cubicBezTo>
                    <a:pt x="353192" y="8890"/>
                    <a:pt x="816302" y="6350"/>
                    <a:pt x="841860" y="5080"/>
                  </a:cubicBezTo>
                  <a:cubicBezTo>
                    <a:pt x="866396" y="3810"/>
                    <a:pt x="890932" y="2540"/>
                    <a:pt x="916490" y="2540"/>
                  </a:cubicBezTo>
                  <a:cubicBezTo>
                    <a:pt x="958405" y="1270"/>
                    <a:pt x="999297" y="0"/>
                    <a:pt x="1041213" y="0"/>
                  </a:cubicBezTo>
                  <a:cubicBezTo>
                    <a:pt x="1058592" y="0"/>
                    <a:pt x="1076994" y="2540"/>
                    <a:pt x="1094373" y="2540"/>
                  </a:cubicBezTo>
                  <a:cubicBezTo>
                    <a:pt x="1142422" y="3810"/>
                    <a:pt x="1191493" y="5080"/>
                    <a:pt x="1239542" y="7620"/>
                  </a:cubicBezTo>
                  <a:cubicBezTo>
                    <a:pt x="1265100" y="8890"/>
                    <a:pt x="1290658" y="12700"/>
                    <a:pt x="1316216" y="16510"/>
                  </a:cubicBezTo>
                  <a:lnTo>
                    <a:pt x="1334148" y="16510"/>
                  </a:lnTo>
                  <a:cubicBezTo>
                    <a:pt x="1345578" y="17780"/>
                    <a:pt x="1354468" y="20320"/>
                    <a:pt x="1364628" y="21590"/>
                  </a:cubicBezTo>
                  <a:close/>
                  <a:moveTo>
                    <a:pt x="1374788" y="2795117"/>
                  </a:moveTo>
                  <a:cubicBezTo>
                    <a:pt x="1376057" y="2778607"/>
                    <a:pt x="1377328" y="2765907"/>
                    <a:pt x="1377328" y="2753207"/>
                  </a:cubicBezTo>
                  <a:cubicBezTo>
                    <a:pt x="1376057" y="2632327"/>
                    <a:pt x="1374788" y="2518747"/>
                    <a:pt x="1374788" y="2396596"/>
                  </a:cubicBezTo>
                  <a:cubicBezTo>
                    <a:pt x="1374788" y="2340878"/>
                    <a:pt x="1377328" y="2285160"/>
                    <a:pt x="1376057" y="2229442"/>
                  </a:cubicBezTo>
                  <a:cubicBezTo>
                    <a:pt x="1376057" y="2178009"/>
                    <a:pt x="1374788" y="2124434"/>
                    <a:pt x="1373518" y="2073002"/>
                  </a:cubicBezTo>
                  <a:cubicBezTo>
                    <a:pt x="1368438" y="1993711"/>
                    <a:pt x="1357007" y="352168"/>
                    <a:pt x="1357007" y="272877"/>
                  </a:cubicBezTo>
                  <a:cubicBezTo>
                    <a:pt x="1354468" y="206444"/>
                    <a:pt x="1351928" y="137867"/>
                    <a:pt x="1349388" y="71434"/>
                  </a:cubicBezTo>
                  <a:cubicBezTo>
                    <a:pt x="1348118" y="44450"/>
                    <a:pt x="1346848" y="43180"/>
                    <a:pt x="1330529" y="41910"/>
                  </a:cubicBezTo>
                  <a:cubicBezTo>
                    <a:pt x="1327462" y="41910"/>
                    <a:pt x="1325417" y="41910"/>
                    <a:pt x="1322350" y="40640"/>
                  </a:cubicBezTo>
                  <a:cubicBezTo>
                    <a:pt x="1296792" y="36830"/>
                    <a:pt x="1270212" y="31750"/>
                    <a:pt x="1244654" y="30480"/>
                  </a:cubicBezTo>
                  <a:cubicBezTo>
                    <a:pt x="1182292" y="26670"/>
                    <a:pt x="1118909" y="25400"/>
                    <a:pt x="1056547" y="22860"/>
                  </a:cubicBezTo>
                  <a:lnTo>
                    <a:pt x="982940" y="22860"/>
                  </a:lnTo>
                  <a:cubicBezTo>
                    <a:pt x="950226" y="22860"/>
                    <a:pt x="917512" y="22860"/>
                    <a:pt x="885820" y="24130"/>
                  </a:cubicBezTo>
                  <a:cubicBezTo>
                    <a:pt x="858217" y="25400"/>
                    <a:pt x="393062" y="29210"/>
                    <a:pt x="365460" y="29210"/>
                  </a:cubicBezTo>
                  <a:cubicBezTo>
                    <a:pt x="320478" y="29210"/>
                    <a:pt x="275496" y="26670"/>
                    <a:pt x="230514" y="33020"/>
                  </a:cubicBezTo>
                  <a:cubicBezTo>
                    <a:pt x="207001" y="36830"/>
                    <a:pt x="184510" y="36830"/>
                    <a:pt x="162019" y="38100"/>
                  </a:cubicBezTo>
                  <a:cubicBezTo>
                    <a:pt x="123170" y="41910"/>
                    <a:pt x="84322" y="45720"/>
                    <a:pt x="45474" y="50800"/>
                  </a:cubicBezTo>
                  <a:cubicBezTo>
                    <a:pt x="33235" y="50800"/>
                    <a:pt x="30695" y="54290"/>
                    <a:pt x="29425" y="80006"/>
                  </a:cubicBezTo>
                  <a:cubicBezTo>
                    <a:pt x="28155" y="118580"/>
                    <a:pt x="28155" y="157154"/>
                    <a:pt x="26885" y="195728"/>
                  </a:cubicBezTo>
                  <a:cubicBezTo>
                    <a:pt x="25615" y="260019"/>
                    <a:pt x="23075" y="322166"/>
                    <a:pt x="21805" y="386456"/>
                  </a:cubicBezTo>
                  <a:cubicBezTo>
                    <a:pt x="16725" y="455032"/>
                    <a:pt x="23075" y="2130863"/>
                    <a:pt x="25615" y="2199440"/>
                  </a:cubicBezTo>
                  <a:cubicBezTo>
                    <a:pt x="25615" y="2272302"/>
                    <a:pt x="25615" y="2347307"/>
                    <a:pt x="26885" y="2420169"/>
                  </a:cubicBezTo>
                  <a:cubicBezTo>
                    <a:pt x="26885" y="2473744"/>
                    <a:pt x="29425" y="2527319"/>
                    <a:pt x="29425" y="2580895"/>
                  </a:cubicBezTo>
                  <a:cubicBezTo>
                    <a:pt x="29425" y="2638756"/>
                    <a:pt x="29425" y="2696617"/>
                    <a:pt x="28155" y="2753207"/>
                  </a:cubicBezTo>
                  <a:lnTo>
                    <a:pt x="28155" y="2763367"/>
                  </a:lnTo>
                  <a:cubicBezTo>
                    <a:pt x="28155" y="2773527"/>
                    <a:pt x="31965" y="2777337"/>
                    <a:pt x="40855" y="2777337"/>
                  </a:cubicBezTo>
                  <a:cubicBezTo>
                    <a:pt x="54675" y="2777337"/>
                    <a:pt x="68988" y="2778607"/>
                    <a:pt x="82278" y="2778607"/>
                  </a:cubicBezTo>
                  <a:cubicBezTo>
                    <a:pt x="101702" y="2778607"/>
                    <a:pt x="122148" y="2776067"/>
                    <a:pt x="141572" y="2778607"/>
                  </a:cubicBezTo>
                  <a:cubicBezTo>
                    <a:pt x="173264" y="2782417"/>
                    <a:pt x="204956" y="2784957"/>
                    <a:pt x="236648" y="2783687"/>
                  </a:cubicBezTo>
                  <a:cubicBezTo>
                    <a:pt x="257094" y="2782417"/>
                    <a:pt x="276518" y="2784957"/>
                    <a:pt x="296965" y="2784957"/>
                  </a:cubicBezTo>
                  <a:cubicBezTo>
                    <a:pt x="326612" y="2784957"/>
                    <a:pt x="356259" y="2783687"/>
                    <a:pt x="385906" y="2784957"/>
                  </a:cubicBezTo>
                  <a:cubicBezTo>
                    <a:pt x="429866" y="2786227"/>
                    <a:pt x="912400" y="2776067"/>
                    <a:pt x="957382" y="2778607"/>
                  </a:cubicBezTo>
                  <a:cubicBezTo>
                    <a:pt x="976806" y="2779877"/>
                    <a:pt x="996230" y="2781147"/>
                    <a:pt x="1014632" y="2781147"/>
                  </a:cubicBezTo>
                  <a:cubicBezTo>
                    <a:pt x="1048369" y="2783687"/>
                    <a:pt x="1081083" y="2779877"/>
                    <a:pt x="1114819" y="2783687"/>
                  </a:cubicBezTo>
                  <a:cubicBezTo>
                    <a:pt x="1142422" y="2786227"/>
                    <a:pt x="1170025" y="2786227"/>
                    <a:pt x="1197627" y="2788767"/>
                  </a:cubicBezTo>
                  <a:cubicBezTo>
                    <a:pt x="1238520" y="2792577"/>
                    <a:pt x="1279413" y="2795117"/>
                    <a:pt x="1320305" y="2796387"/>
                  </a:cubicBezTo>
                  <a:cubicBezTo>
                    <a:pt x="1336688" y="2796387"/>
                    <a:pt x="1354468" y="2795117"/>
                    <a:pt x="1374788" y="2795117"/>
                  </a:cubicBezTo>
                  <a:close/>
                </a:path>
              </a:pathLst>
            </a:custGeom>
            <a:solidFill>
              <a:srgbClr val="2A2B39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243092" y="4963441"/>
            <a:ext cx="1067819" cy="1067819"/>
            <a:chOff x="0" y="0"/>
            <a:chExt cx="1423758" cy="1423758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0" y="0"/>
              <a:ext cx="1423758" cy="1423758"/>
              <a:chOff x="0" y="0"/>
              <a:chExt cx="812800" cy="8128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87A5FA"/>
              </a:solidFill>
              <a:ln w="38100" cap="sq">
                <a:solidFill>
                  <a:srgbClr val="2A2B39"/>
                </a:solidFill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76200" y="66675"/>
                <a:ext cx="660400" cy="6699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882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15" id="15"/>
            <p:cNvSpPr txBox="true"/>
            <p:nvPr/>
          </p:nvSpPr>
          <p:spPr>
            <a:xfrm rot="0">
              <a:off x="347190" y="124524"/>
              <a:ext cx="729379" cy="12741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6197"/>
                </a:lnSpc>
              </a:pPr>
              <a:r>
                <a:rPr lang="en-US" sz="6323" spc="316">
                  <a:solidFill>
                    <a:srgbClr val="2A2B39"/>
                  </a:solidFill>
                  <a:latin typeface="Ballpoint"/>
                  <a:ea typeface="Ballpoint"/>
                  <a:cs typeface="Ballpoint"/>
                  <a:sym typeface="Ballpoint"/>
                </a:rPr>
                <a:t>1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3770277" y="4963441"/>
            <a:ext cx="1067819" cy="1067819"/>
            <a:chOff x="0" y="0"/>
            <a:chExt cx="1423758" cy="1423758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0" y="0"/>
              <a:ext cx="1423758" cy="1423758"/>
              <a:chOff x="0" y="0"/>
              <a:chExt cx="812800" cy="81280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76C5CB"/>
              </a:solidFill>
              <a:ln w="38100" cap="sq">
                <a:solidFill>
                  <a:srgbClr val="2A2B39"/>
                </a:solidFill>
                <a:prstDash val="solid"/>
                <a:miter/>
              </a:ln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76200" y="66675"/>
                <a:ext cx="660400" cy="6699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762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20" id="20"/>
            <p:cNvSpPr txBox="true"/>
            <p:nvPr/>
          </p:nvSpPr>
          <p:spPr>
            <a:xfrm rot="0">
              <a:off x="347190" y="124524"/>
              <a:ext cx="729379" cy="12741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6197"/>
                </a:lnSpc>
              </a:pPr>
              <a:r>
                <a:rPr lang="en-US" sz="6323" spc="316">
                  <a:solidFill>
                    <a:srgbClr val="2A2B39"/>
                  </a:solidFill>
                  <a:latin typeface="Ballpoint"/>
                  <a:ea typeface="Ballpoint"/>
                  <a:cs typeface="Ballpoint"/>
                  <a:sym typeface="Ballpoint"/>
                </a:rPr>
                <a:t>2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7831371" y="2741135"/>
            <a:ext cx="2865611" cy="5994660"/>
            <a:chOff x="0" y="0"/>
            <a:chExt cx="1357998" cy="2840837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39974" y="45156"/>
              <a:ext cx="1318023" cy="2794976"/>
            </a:xfrm>
            <a:custGeom>
              <a:avLst/>
              <a:gdLst/>
              <a:ahLst/>
              <a:cxnLst/>
              <a:rect r="r" b="b" t="t" l="l"/>
              <a:pathLst>
                <a:path h="2794976" w="1318023">
                  <a:moveTo>
                    <a:pt x="666" y="2765201"/>
                  </a:moveTo>
                  <a:cubicBezTo>
                    <a:pt x="-1874" y="2774091"/>
                    <a:pt x="3206" y="2780441"/>
                    <a:pt x="9981" y="2781711"/>
                  </a:cubicBezTo>
                  <a:cubicBezTo>
                    <a:pt x="17676" y="2782981"/>
                    <a:pt x="24408" y="2782981"/>
                    <a:pt x="32102" y="2782981"/>
                  </a:cubicBezTo>
                  <a:cubicBezTo>
                    <a:pt x="62879" y="2784251"/>
                    <a:pt x="93656" y="2784251"/>
                    <a:pt x="125394" y="2785521"/>
                  </a:cubicBezTo>
                  <a:cubicBezTo>
                    <a:pt x="142706" y="2786791"/>
                    <a:pt x="160018" y="2788061"/>
                    <a:pt x="176368" y="2789331"/>
                  </a:cubicBezTo>
                  <a:cubicBezTo>
                    <a:pt x="205221" y="2790601"/>
                    <a:pt x="233113" y="2790601"/>
                    <a:pt x="261966" y="2791871"/>
                  </a:cubicBezTo>
                  <a:cubicBezTo>
                    <a:pt x="273507" y="2791871"/>
                    <a:pt x="284087" y="2791871"/>
                    <a:pt x="295628" y="2790601"/>
                  </a:cubicBezTo>
                  <a:cubicBezTo>
                    <a:pt x="300437" y="2790601"/>
                    <a:pt x="306208" y="2789331"/>
                    <a:pt x="311016" y="2789331"/>
                  </a:cubicBezTo>
                  <a:cubicBezTo>
                    <a:pt x="330252" y="2790601"/>
                    <a:pt x="714961" y="2781711"/>
                    <a:pt x="734197" y="2782981"/>
                  </a:cubicBezTo>
                  <a:cubicBezTo>
                    <a:pt x="761126" y="2784251"/>
                    <a:pt x="835183" y="2784251"/>
                    <a:pt x="862112" y="2784251"/>
                  </a:cubicBezTo>
                  <a:cubicBezTo>
                    <a:pt x="872692" y="2784251"/>
                    <a:pt x="882310" y="2782981"/>
                    <a:pt x="892889" y="2782981"/>
                  </a:cubicBezTo>
                  <a:lnTo>
                    <a:pt x="944825" y="2786791"/>
                  </a:lnTo>
                  <a:cubicBezTo>
                    <a:pt x="982334" y="2789331"/>
                    <a:pt x="1018881" y="2786791"/>
                    <a:pt x="1056391" y="2790601"/>
                  </a:cubicBezTo>
                  <a:cubicBezTo>
                    <a:pt x="1118906" y="2795681"/>
                    <a:pt x="1182383" y="2789331"/>
                    <a:pt x="1254524" y="2794411"/>
                  </a:cubicBezTo>
                  <a:cubicBezTo>
                    <a:pt x="1274844" y="2795681"/>
                    <a:pt x="1295163" y="2794411"/>
                    <a:pt x="1318024" y="2794411"/>
                  </a:cubicBezTo>
                  <a:lnTo>
                    <a:pt x="1318024" y="2734721"/>
                  </a:lnTo>
                  <a:cubicBezTo>
                    <a:pt x="1316753" y="2645032"/>
                    <a:pt x="1315484" y="2542168"/>
                    <a:pt x="1315484" y="2432874"/>
                  </a:cubicBezTo>
                  <a:cubicBezTo>
                    <a:pt x="1315484" y="2306437"/>
                    <a:pt x="1319294" y="2177857"/>
                    <a:pt x="1312944" y="2051419"/>
                  </a:cubicBezTo>
                  <a:cubicBezTo>
                    <a:pt x="1305324" y="1967842"/>
                    <a:pt x="1293894" y="319870"/>
                    <a:pt x="1293894" y="236293"/>
                  </a:cubicBezTo>
                  <a:cubicBezTo>
                    <a:pt x="1291353" y="178432"/>
                    <a:pt x="1290084" y="118427"/>
                    <a:pt x="1287544" y="60566"/>
                  </a:cubicBezTo>
                  <a:cubicBezTo>
                    <a:pt x="1287544" y="43422"/>
                    <a:pt x="1286274" y="26278"/>
                    <a:pt x="1285003" y="5644"/>
                  </a:cubicBezTo>
                  <a:cubicBezTo>
                    <a:pt x="1274844" y="3104"/>
                    <a:pt x="1265953" y="1834"/>
                    <a:pt x="1255794" y="564"/>
                  </a:cubicBezTo>
                  <a:cubicBezTo>
                    <a:pt x="1248174" y="-706"/>
                    <a:pt x="1240553" y="564"/>
                    <a:pt x="1234203" y="564"/>
                  </a:cubicBezTo>
                  <a:lnTo>
                    <a:pt x="5173" y="5644"/>
                  </a:lnTo>
                  <a:lnTo>
                    <a:pt x="666" y="2765201"/>
                  </a:lnTo>
                  <a:close/>
                </a:path>
              </a:pathLst>
            </a:custGeom>
            <a:solidFill>
              <a:srgbClr val="96C15E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11430" y="16510"/>
              <a:ext cx="1297038" cy="2786227"/>
            </a:xfrm>
            <a:custGeom>
              <a:avLst/>
              <a:gdLst/>
              <a:ahLst/>
              <a:cxnLst/>
              <a:rect r="r" b="b" t="t" l="l"/>
              <a:pathLst>
                <a:path h="2786227" w="1297038">
                  <a:moveTo>
                    <a:pt x="1297038" y="2786227"/>
                  </a:moveTo>
                  <a:lnTo>
                    <a:pt x="0" y="2778607"/>
                  </a:lnTo>
                  <a:lnTo>
                    <a:pt x="0" y="984989"/>
                  </a:lnTo>
                  <a:lnTo>
                    <a:pt x="7620" y="20320"/>
                  </a:lnTo>
                  <a:lnTo>
                    <a:pt x="642519" y="0"/>
                  </a:lnTo>
                  <a:lnTo>
                    <a:pt x="1275448" y="8890"/>
                  </a:lnTo>
                  <a:close/>
                </a:path>
              </a:pathLst>
            </a:custGeom>
            <a:solidFill>
              <a:srgbClr val="E0F0CB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-215" y="0"/>
              <a:ext cx="1321382" cy="2812191"/>
            </a:xfrm>
            <a:custGeom>
              <a:avLst/>
              <a:gdLst/>
              <a:ahLst/>
              <a:cxnLst/>
              <a:rect r="r" b="b" t="t" l="l"/>
              <a:pathLst>
                <a:path h="2812191" w="1321382">
                  <a:moveTo>
                    <a:pt x="1288363" y="21590"/>
                  </a:moveTo>
                  <a:cubicBezTo>
                    <a:pt x="1289633" y="34290"/>
                    <a:pt x="1289633" y="44450"/>
                    <a:pt x="1290902" y="56433"/>
                  </a:cubicBezTo>
                  <a:cubicBezTo>
                    <a:pt x="1293442" y="114294"/>
                    <a:pt x="1294713" y="174298"/>
                    <a:pt x="1297252" y="232160"/>
                  </a:cubicBezTo>
                  <a:cubicBezTo>
                    <a:pt x="1297252" y="315737"/>
                    <a:pt x="1309952" y="1963709"/>
                    <a:pt x="1316302" y="2047286"/>
                  </a:cubicBezTo>
                  <a:cubicBezTo>
                    <a:pt x="1322652" y="2173723"/>
                    <a:pt x="1318842" y="2302304"/>
                    <a:pt x="1318842" y="2428741"/>
                  </a:cubicBezTo>
                  <a:cubicBezTo>
                    <a:pt x="1318842" y="2540177"/>
                    <a:pt x="1320113" y="2643042"/>
                    <a:pt x="1321383" y="2751937"/>
                  </a:cubicBezTo>
                  <a:lnTo>
                    <a:pt x="1321383" y="2811627"/>
                  </a:lnTo>
                  <a:cubicBezTo>
                    <a:pt x="1298523" y="2811627"/>
                    <a:pt x="1278202" y="2812897"/>
                    <a:pt x="1257883" y="2811627"/>
                  </a:cubicBezTo>
                  <a:cubicBezTo>
                    <a:pt x="1194680" y="2806547"/>
                    <a:pt x="1131203" y="2812897"/>
                    <a:pt x="1068688" y="2807817"/>
                  </a:cubicBezTo>
                  <a:cubicBezTo>
                    <a:pt x="1031179" y="2804007"/>
                    <a:pt x="994632" y="2806547"/>
                    <a:pt x="957122" y="2804007"/>
                  </a:cubicBezTo>
                  <a:lnTo>
                    <a:pt x="905187" y="2800197"/>
                  </a:lnTo>
                  <a:cubicBezTo>
                    <a:pt x="894607" y="2800197"/>
                    <a:pt x="884989" y="2801467"/>
                    <a:pt x="874410" y="2801467"/>
                  </a:cubicBezTo>
                  <a:cubicBezTo>
                    <a:pt x="847480" y="2800197"/>
                    <a:pt x="773424" y="2801467"/>
                    <a:pt x="746494" y="2800197"/>
                  </a:cubicBezTo>
                  <a:cubicBezTo>
                    <a:pt x="727259" y="2798927"/>
                    <a:pt x="342549" y="2807817"/>
                    <a:pt x="323314" y="2806547"/>
                  </a:cubicBezTo>
                  <a:cubicBezTo>
                    <a:pt x="318505" y="2806547"/>
                    <a:pt x="312734" y="2807817"/>
                    <a:pt x="307926" y="2807817"/>
                  </a:cubicBezTo>
                  <a:cubicBezTo>
                    <a:pt x="296384" y="2807817"/>
                    <a:pt x="285805" y="2809087"/>
                    <a:pt x="274264" y="2809087"/>
                  </a:cubicBezTo>
                  <a:cubicBezTo>
                    <a:pt x="245410" y="2809087"/>
                    <a:pt x="217519" y="2807817"/>
                    <a:pt x="188666" y="2806547"/>
                  </a:cubicBezTo>
                  <a:cubicBezTo>
                    <a:pt x="171354" y="2805277"/>
                    <a:pt x="154042" y="2804007"/>
                    <a:pt x="137692" y="2802737"/>
                  </a:cubicBezTo>
                  <a:cubicBezTo>
                    <a:pt x="106915" y="2801467"/>
                    <a:pt x="76138" y="2800197"/>
                    <a:pt x="44400" y="2800197"/>
                  </a:cubicBezTo>
                  <a:cubicBezTo>
                    <a:pt x="34505" y="2800197"/>
                    <a:pt x="25615" y="2800197"/>
                    <a:pt x="15455" y="2798927"/>
                  </a:cubicBezTo>
                  <a:cubicBezTo>
                    <a:pt x="6565" y="2797657"/>
                    <a:pt x="1485" y="2791307"/>
                    <a:pt x="4025" y="2782417"/>
                  </a:cubicBezTo>
                  <a:cubicBezTo>
                    <a:pt x="12915" y="2750192"/>
                    <a:pt x="9105" y="2696617"/>
                    <a:pt x="7835" y="2640899"/>
                  </a:cubicBezTo>
                  <a:cubicBezTo>
                    <a:pt x="6565" y="2527319"/>
                    <a:pt x="2755" y="2415883"/>
                    <a:pt x="4025" y="2302304"/>
                  </a:cubicBezTo>
                  <a:cubicBezTo>
                    <a:pt x="1485" y="2160865"/>
                    <a:pt x="-3595" y="410029"/>
                    <a:pt x="4025" y="266448"/>
                  </a:cubicBezTo>
                  <a:cubicBezTo>
                    <a:pt x="5295" y="238588"/>
                    <a:pt x="4025" y="208586"/>
                    <a:pt x="5295" y="180727"/>
                  </a:cubicBezTo>
                  <a:cubicBezTo>
                    <a:pt x="6565" y="135724"/>
                    <a:pt x="9105" y="86435"/>
                    <a:pt x="10375" y="44450"/>
                  </a:cubicBezTo>
                  <a:cubicBezTo>
                    <a:pt x="10375" y="41910"/>
                    <a:pt x="11645" y="39370"/>
                    <a:pt x="12915" y="38100"/>
                  </a:cubicBezTo>
                  <a:cubicBezTo>
                    <a:pt x="34505" y="35560"/>
                    <a:pt x="52094" y="30480"/>
                    <a:pt x="67482" y="29210"/>
                  </a:cubicBezTo>
                  <a:cubicBezTo>
                    <a:pt x="93450" y="25400"/>
                    <a:pt x="119418" y="22860"/>
                    <a:pt x="146348" y="20320"/>
                  </a:cubicBezTo>
                  <a:cubicBezTo>
                    <a:pt x="164621" y="17780"/>
                    <a:pt x="182895" y="16510"/>
                    <a:pt x="200207" y="13970"/>
                  </a:cubicBezTo>
                  <a:cubicBezTo>
                    <a:pt x="217519" y="11430"/>
                    <a:pt x="235793" y="8890"/>
                    <a:pt x="253105" y="8890"/>
                  </a:cubicBezTo>
                  <a:cubicBezTo>
                    <a:pt x="272340" y="7620"/>
                    <a:pt x="291575" y="10160"/>
                    <a:pt x="310811" y="8890"/>
                  </a:cubicBezTo>
                  <a:cubicBezTo>
                    <a:pt x="334855" y="8890"/>
                    <a:pt x="770538" y="6350"/>
                    <a:pt x="794583" y="5080"/>
                  </a:cubicBezTo>
                  <a:cubicBezTo>
                    <a:pt x="817665" y="3810"/>
                    <a:pt x="840748" y="2540"/>
                    <a:pt x="864792" y="2540"/>
                  </a:cubicBezTo>
                  <a:cubicBezTo>
                    <a:pt x="904225" y="1270"/>
                    <a:pt x="942696" y="0"/>
                    <a:pt x="982129" y="0"/>
                  </a:cubicBezTo>
                  <a:cubicBezTo>
                    <a:pt x="998479" y="0"/>
                    <a:pt x="1015791" y="2540"/>
                    <a:pt x="1032141" y="2540"/>
                  </a:cubicBezTo>
                  <a:cubicBezTo>
                    <a:pt x="1077344" y="3810"/>
                    <a:pt x="1123509" y="5080"/>
                    <a:pt x="1168712" y="7620"/>
                  </a:cubicBezTo>
                  <a:cubicBezTo>
                    <a:pt x="1192757" y="8890"/>
                    <a:pt x="1216801" y="12700"/>
                    <a:pt x="1240845" y="16510"/>
                  </a:cubicBezTo>
                  <a:lnTo>
                    <a:pt x="1257883" y="16510"/>
                  </a:lnTo>
                  <a:cubicBezTo>
                    <a:pt x="1269313" y="17780"/>
                    <a:pt x="1278202" y="20320"/>
                    <a:pt x="1288363" y="21590"/>
                  </a:cubicBezTo>
                  <a:close/>
                  <a:moveTo>
                    <a:pt x="1298523" y="2795117"/>
                  </a:moveTo>
                  <a:cubicBezTo>
                    <a:pt x="1299792" y="2778607"/>
                    <a:pt x="1301063" y="2765907"/>
                    <a:pt x="1301063" y="2753207"/>
                  </a:cubicBezTo>
                  <a:cubicBezTo>
                    <a:pt x="1299792" y="2632327"/>
                    <a:pt x="1298523" y="2518747"/>
                    <a:pt x="1298523" y="2396596"/>
                  </a:cubicBezTo>
                  <a:cubicBezTo>
                    <a:pt x="1298523" y="2340878"/>
                    <a:pt x="1301063" y="2285160"/>
                    <a:pt x="1299792" y="2229442"/>
                  </a:cubicBezTo>
                  <a:cubicBezTo>
                    <a:pt x="1299792" y="2178009"/>
                    <a:pt x="1298523" y="2124434"/>
                    <a:pt x="1297252" y="2073002"/>
                  </a:cubicBezTo>
                  <a:cubicBezTo>
                    <a:pt x="1292173" y="1993711"/>
                    <a:pt x="1280742" y="352168"/>
                    <a:pt x="1280742" y="272877"/>
                  </a:cubicBezTo>
                  <a:cubicBezTo>
                    <a:pt x="1278202" y="206444"/>
                    <a:pt x="1275663" y="137867"/>
                    <a:pt x="1273123" y="71434"/>
                  </a:cubicBezTo>
                  <a:cubicBezTo>
                    <a:pt x="1271852" y="44450"/>
                    <a:pt x="1270583" y="43180"/>
                    <a:pt x="1254310" y="41910"/>
                  </a:cubicBezTo>
                  <a:cubicBezTo>
                    <a:pt x="1251425" y="41910"/>
                    <a:pt x="1249501" y="41910"/>
                    <a:pt x="1246616" y="40640"/>
                  </a:cubicBezTo>
                  <a:cubicBezTo>
                    <a:pt x="1222572" y="36830"/>
                    <a:pt x="1197566" y="31750"/>
                    <a:pt x="1173521" y="30480"/>
                  </a:cubicBezTo>
                  <a:cubicBezTo>
                    <a:pt x="1114853" y="26670"/>
                    <a:pt x="1055223" y="25400"/>
                    <a:pt x="996555" y="22860"/>
                  </a:cubicBezTo>
                  <a:lnTo>
                    <a:pt x="927307" y="22860"/>
                  </a:lnTo>
                  <a:cubicBezTo>
                    <a:pt x="896531" y="22860"/>
                    <a:pt x="865754" y="22860"/>
                    <a:pt x="835939" y="24130"/>
                  </a:cubicBezTo>
                  <a:cubicBezTo>
                    <a:pt x="809971" y="25400"/>
                    <a:pt x="372364" y="29210"/>
                    <a:pt x="346397" y="29210"/>
                  </a:cubicBezTo>
                  <a:cubicBezTo>
                    <a:pt x="304079" y="29210"/>
                    <a:pt x="261760" y="26670"/>
                    <a:pt x="219442" y="33020"/>
                  </a:cubicBezTo>
                  <a:cubicBezTo>
                    <a:pt x="197322" y="36830"/>
                    <a:pt x="176163" y="36830"/>
                    <a:pt x="155004" y="38100"/>
                  </a:cubicBezTo>
                  <a:cubicBezTo>
                    <a:pt x="118456" y="41910"/>
                    <a:pt x="81909" y="45720"/>
                    <a:pt x="45362" y="50800"/>
                  </a:cubicBezTo>
                  <a:cubicBezTo>
                    <a:pt x="33235" y="50800"/>
                    <a:pt x="30695" y="54290"/>
                    <a:pt x="29425" y="80006"/>
                  </a:cubicBezTo>
                  <a:cubicBezTo>
                    <a:pt x="28155" y="118580"/>
                    <a:pt x="28155" y="157154"/>
                    <a:pt x="26885" y="195728"/>
                  </a:cubicBezTo>
                  <a:cubicBezTo>
                    <a:pt x="25615" y="260019"/>
                    <a:pt x="23075" y="322166"/>
                    <a:pt x="21805" y="386456"/>
                  </a:cubicBezTo>
                  <a:cubicBezTo>
                    <a:pt x="16725" y="455032"/>
                    <a:pt x="23075" y="2130863"/>
                    <a:pt x="25615" y="2199440"/>
                  </a:cubicBezTo>
                  <a:cubicBezTo>
                    <a:pt x="25615" y="2272302"/>
                    <a:pt x="25615" y="2347307"/>
                    <a:pt x="26885" y="2420169"/>
                  </a:cubicBezTo>
                  <a:cubicBezTo>
                    <a:pt x="26885" y="2473744"/>
                    <a:pt x="29425" y="2527319"/>
                    <a:pt x="29425" y="2580895"/>
                  </a:cubicBezTo>
                  <a:cubicBezTo>
                    <a:pt x="29425" y="2638756"/>
                    <a:pt x="29425" y="2696617"/>
                    <a:pt x="28155" y="2753207"/>
                  </a:cubicBezTo>
                  <a:lnTo>
                    <a:pt x="28155" y="2763367"/>
                  </a:lnTo>
                  <a:cubicBezTo>
                    <a:pt x="28155" y="2773527"/>
                    <a:pt x="31965" y="2777337"/>
                    <a:pt x="40855" y="2777337"/>
                  </a:cubicBezTo>
                  <a:cubicBezTo>
                    <a:pt x="54018" y="2777337"/>
                    <a:pt x="67482" y="2778607"/>
                    <a:pt x="79985" y="2778607"/>
                  </a:cubicBezTo>
                  <a:cubicBezTo>
                    <a:pt x="98259" y="2778607"/>
                    <a:pt x="117495" y="2776067"/>
                    <a:pt x="135768" y="2778607"/>
                  </a:cubicBezTo>
                  <a:cubicBezTo>
                    <a:pt x="165583" y="2782417"/>
                    <a:pt x="195398" y="2784957"/>
                    <a:pt x="225213" y="2783687"/>
                  </a:cubicBezTo>
                  <a:cubicBezTo>
                    <a:pt x="244449" y="2782417"/>
                    <a:pt x="262722" y="2784957"/>
                    <a:pt x="281958" y="2784957"/>
                  </a:cubicBezTo>
                  <a:cubicBezTo>
                    <a:pt x="309849" y="2784957"/>
                    <a:pt x="337741" y="2783687"/>
                    <a:pt x="365632" y="2784957"/>
                  </a:cubicBezTo>
                  <a:cubicBezTo>
                    <a:pt x="406988" y="2786227"/>
                    <a:pt x="860945" y="2776067"/>
                    <a:pt x="903263" y="2778607"/>
                  </a:cubicBezTo>
                  <a:cubicBezTo>
                    <a:pt x="921537" y="2779877"/>
                    <a:pt x="939810" y="2781147"/>
                    <a:pt x="957122" y="2781147"/>
                  </a:cubicBezTo>
                  <a:cubicBezTo>
                    <a:pt x="988861" y="2783687"/>
                    <a:pt x="1019638" y="2779877"/>
                    <a:pt x="1051376" y="2783687"/>
                  </a:cubicBezTo>
                  <a:cubicBezTo>
                    <a:pt x="1077344" y="2786227"/>
                    <a:pt x="1103312" y="2786227"/>
                    <a:pt x="1129280" y="2788767"/>
                  </a:cubicBezTo>
                  <a:cubicBezTo>
                    <a:pt x="1167751" y="2792577"/>
                    <a:pt x="1206222" y="2795117"/>
                    <a:pt x="1244693" y="2796387"/>
                  </a:cubicBezTo>
                  <a:cubicBezTo>
                    <a:pt x="1260423" y="2796387"/>
                    <a:pt x="1278202" y="2795117"/>
                    <a:pt x="1298523" y="2795117"/>
                  </a:cubicBezTo>
                  <a:close/>
                </a:path>
              </a:pathLst>
            </a:custGeom>
            <a:solidFill>
              <a:srgbClr val="2A2B39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4885741" y="2741135"/>
            <a:ext cx="2865611" cy="5994660"/>
            <a:chOff x="0" y="0"/>
            <a:chExt cx="1357998" cy="2840837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39974" y="45156"/>
              <a:ext cx="1318023" cy="2794976"/>
            </a:xfrm>
            <a:custGeom>
              <a:avLst/>
              <a:gdLst/>
              <a:ahLst/>
              <a:cxnLst/>
              <a:rect r="r" b="b" t="t" l="l"/>
              <a:pathLst>
                <a:path h="2794976" w="1318023">
                  <a:moveTo>
                    <a:pt x="666" y="2765201"/>
                  </a:moveTo>
                  <a:cubicBezTo>
                    <a:pt x="-1874" y="2774091"/>
                    <a:pt x="3206" y="2780441"/>
                    <a:pt x="9981" y="2781711"/>
                  </a:cubicBezTo>
                  <a:cubicBezTo>
                    <a:pt x="17676" y="2782981"/>
                    <a:pt x="24408" y="2782981"/>
                    <a:pt x="32102" y="2782981"/>
                  </a:cubicBezTo>
                  <a:cubicBezTo>
                    <a:pt x="62879" y="2784251"/>
                    <a:pt x="93656" y="2784251"/>
                    <a:pt x="125394" y="2785521"/>
                  </a:cubicBezTo>
                  <a:cubicBezTo>
                    <a:pt x="142706" y="2786791"/>
                    <a:pt x="160018" y="2788061"/>
                    <a:pt x="176368" y="2789331"/>
                  </a:cubicBezTo>
                  <a:cubicBezTo>
                    <a:pt x="205221" y="2790601"/>
                    <a:pt x="233113" y="2790601"/>
                    <a:pt x="261966" y="2791871"/>
                  </a:cubicBezTo>
                  <a:cubicBezTo>
                    <a:pt x="273507" y="2791871"/>
                    <a:pt x="284087" y="2791871"/>
                    <a:pt x="295628" y="2790601"/>
                  </a:cubicBezTo>
                  <a:cubicBezTo>
                    <a:pt x="300437" y="2790601"/>
                    <a:pt x="306208" y="2789331"/>
                    <a:pt x="311016" y="2789331"/>
                  </a:cubicBezTo>
                  <a:cubicBezTo>
                    <a:pt x="330252" y="2790601"/>
                    <a:pt x="714961" y="2781711"/>
                    <a:pt x="734197" y="2782981"/>
                  </a:cubicBezTo>
                  <a:cubicBezTo>
                    <a:pt x="761126" y="2784251"/>
                    <a:pt x="835183" y="2784251"/>
                    <a:pt x="862112" y="2784251"/>
                  </a:cubicBezTo>
                  <a:cubicBezTo>
                    <a:pt x="872692" y="2784251"/>
                    <a:pt x="882310" y="2782981"/>
                    <a:pt x="892889" y="2782981"/>
                  </a:cubicBezTo>
                  <a:lnTo>
                    <a:pt x="944825" y="2786791"/>
                  </a:lnTo>
                  <a:cubicBezTo>
                    <a:pt x="982334" y="2789331"/>
                    <a:pt x="1018881" y="2786791"/>
                    <a:pt x="1056391" y="2790601"/>
                  </a:cubicBezTo>
                  <a:cubicBezTo>
                    <a:pt x="1118906" y="2795681"/>
                    <a:pt x="1182383" y="2789331"/>
                    <a:pt x="1254524" y="2794411"/>
                  </a:cubicBezTo>
                  <a:cubicBezTo>
                    <a:pt x="1274844" y="2795681"/>
                    <a:pt x="1295163" y="2794411"/>
                    <a:pt x="1318024" y="2794411"/>
                  </a:cubicBezTo>
                  <a:lnTo>
                    <a:pt x="1318024" y="2734721"/>
                  </a:lnTo>
                  <a:cubicBezTo>
                    <a:pt x="1316753" y="2645032"/>
                    <a:pt x="1315484" y="2542168"/>
                    <a:pt x="1315484" y="2432874"/>
                  </a:cubicBezTo>
                  <a:cubicBezTo>
                    <a:pt x="1315484" y="2306437"/>
                    <a:pt x="1319294" y="2177857"/>
                    <a:pt x="1312944" y="2051419"/>
                  </a:cubicBezTo>
                  <a:cubicBezTo>
                    <a:pt x="1305324" y="1967842"/>
                    <a:pt x="1293894" y="319870"/>
                    <a:pt x="1293894" y="236293"/>
                  </a:cubicBezTo>
                  <a:cubicBezTo>
                    <a:pt x="1291353" y="178432"/>
                    <a:pt x="1290084" y="118427"/>
                    <a:pt x="1287544" y="60566"/>
                  </a:cubicBezTo>
                  <a:cubicBezTo>
                    <a:pt x="1287544" y="43422"/>
                    <a:pt x="1286274" y="26278"/>
                    <a:pt x="1285003" y="5644"/>
                  </a:cubicBezTo>
                  <a:cubicBezTo>
                    <a:pt x="1274844" y="3104"/>
                    <a:pt x="1265953" y="1834"/>
                    <a:pt x="1255794" y="564"/>
                  </a:cubicBezTo>
                  <a:cubicBezTo>
                    <a:pt x="1248174" y="-706"/>
                    <a:pt x="1240553" y="564"/>
                    <a:pt x="1234203" y="564"/>
                  </a:cubicBezTo>
                  <a:lnTo>
                    <a:pt x="5173" y="5644"/>
                  </a:lnTo>
                  <a:lnTo>
                    <a:pt x="666" y="2765201"/>
                  </a:lnTo>
                  <a:close/>
                </a:path>
              </a:pathLst>
            </a:custGeom>
            <a:solidFill>
              <a:srgbClr val="FFAADF"/>
            </a:solid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11430" y="16510"/>
              <a:ext cx="1297038" cy="2786227"/>
            </a:xfrm>
            <a:custGeom>
              <a:avLst/>
              <a:gdLst/>
              <a:ahLst/>
              <a:cxnLst/>
              <a:rect r="r" b="b" t="t" l="l"/>
              <a:pathLst>
                <a:path h="2786227" w="1297038">
                  <a:moveTo>
                    <a:pt x="1297038" y="2786227"/>
                  </a:moveTo>
                  <a:lnTo>
                    <a:pt x="0" y="2778607"/>
                  </a:lnTo>
                  <a:lnTo>
                    <a:pt x="0" y="984989"/>
                  </a:lnTo>
                  <a:lnTo>
                    <a:pt x="7620" y="20320"/>
                  </a:lnTo>
                  <a:lnTo>
                    <a:pt x="642519" y="0"/>
                  </a:lnTo>
                  <a:lnTo>
                    <a:pt x="1275448" y="8890"/>
                  </a:lnTo>
                  <a:close/>
                </a:path>
              </a:pathLst>
            </a:custGeom>
            <a:solidFill>
              <a:srgbClr val="FED9F0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-215" y="0"/>
              <a:ext cx="1321382" cy="2812191"/>
            </a:xfrm>
            <a:custGeom>
              <a:avLst/>
              <a:gdLst/>
              <a:ahLst/>
              <a:cxnLst/>
              <a:rect r="r" b="b" t="t" l="l"/>
              <a:pathLst>
                <a:path h="2812191" w="1321382">
                  <a:moveTo>
                    <a:pt x="1288363" y="21590"/>
                  </a:moveTo>
                  <a:cubicBezTo>
                    <a:pt x="1289633" y="34290"/>
                    <a:pt x="1289633" y="44450"/>
                    <a:pt x="1290902" y="56433"/>
                  </a:cubicBezTo>
                  <a:cubicBezTo>
                    <a:pt x="1293442" y="114294"/>
                    <a:pt x="1294713" y="174298"/>
                    <a:pt x="1297252" y="232160"/>
                  </a:cubicBezTo>
                  <a:cubicBezTo>
                    <a:pt x="1297252" y="315737"/>
                    <a:pt x="1309952" y="1963709"/>
                    <a:pt x="1316302" y="2047286"/>
                  </a:cubicBezTo>
                  <a:cubicBezTo>
                    <a:pt x="1322652" y="2173723"/>
                    <a:pt x="1318842" y="2302304"/>
                    <a:pt x="1318842" y="2428741"/>
                  </a:cubicBezTo>
                  <a:cubicBezTo>
                    <a:pt x="1318842" y="2540177"/>
                    <a:pt x="1320113" y="2643042"/>
                    <a:pt x="1321383" y="2751937"/>
                  </a:cubicBezTo>
                  <a:lnTo>
                    <a:pt x="1321383" y="2811627"/>
                  </a:lnTo>
                  <a:cubicBezTo>
                    <a:pt x="1298523" y="2811627"/>
                    <a:pt x="1278202" y="2812897"/>
                    <a:pt x="1257883" y="2811627"/>
                  </a:cubicBezTo>
                  <a:cubicBezTo>
                    <a:pt x="1194680" y="2806547"/>
                    <a:pt x="1131203" y="2812897"/>
                    <a:pt x="1068688" y="2807817"/>
                  </a:cubicBezTo>
                  <a:cubicBezTo>
                    <a:pt x="1031179" y="2804007"/>
                    <a:pt x="994632" y="2806547"/>
                    <a:pt x="957122" y="2804007"/>
                  </a:cubicBezTo>
                  <a:lnTo>
                    <a:pt x="905187" y="2800197"/>
                  </a:lnTo>
                  <a:cubicBezTo>
                    <a:pt x="894607" y="2800197"/>
                    <a:pt x="884989" y="2801467"/>
                    <a:pt x="874410" y="2801467"/>
                  </a:cubicBezTo>
                  <a:cubicBezTo>
                    <a:pt x="847480" y="2800197"/>
                    <a:pt x="773424" y="2801467"/>
                    <a:pt x="746494" y="2800197"/>
                  </a:cubicBezTo>
                  <a:cubicBezTo>
                    <a:pt x="727259" y="2798927"/>
                    <a:pt x="342549" y="2807817"/>
                    <a:pt x="323314" y="2806547"/>
                  </a:cubicBezTo>
                  <a:cubicBezTo>
                    <a:pt x="318505" y="2806547"/>
                    <a:pt x="312734" y="2807817"/>
                    <a:pt x="307926" y="2807817"/>
                  </a:cubicBezTo>
                  <a:cubicBezTo>
                    <a:pt x="296384" y="2807817"/>
                    <a:pt x="285805" y="2809087"/>
                    <a:pt x="274264" y="2809087"/>
                  </a:cubicBezTo>
                  <a:cubicBezTo>
                    <a:pt x="245410" y="2809087"/>
                    <a:pt x="217519" y="2807817"/>
                    <a:pt x="188666" y="2806547"/>
                  </a:cubicBezTo>
                  <a:cubicBezTo>
                    <a:pt x="171354" y="2805277"/>
                    <a:pt x="154042" y="2804007"/>
                    <a:pt x="137692" y="2802737"/>
                  </a:cubicBezTo>
                  <a:cubicBezTo>
                    <a:pt x="106915" y="2801467"/>
                    <a:pt x="76138" y="2800197"/>
                    <a:pt x="44400" y="2800197"/>
                  </a:cubicBezTo>
                  <a:cubicBezTo>
                    <a:pt x="34505" y="2800197"/>
                    <a:pt x="25615" y="2800197"/>
                    <a:pt x="15455" y="2798927"/>
                  </a:cubicBezTo>
                  <a:cubicBezTo>
                    <a:pt x="6565" y="2797657"/>
                    <a:pt x="1485" y="2791307"/>
                    <a:pt x="4025" y="2782417"/>
                  </a:cubicBezTo>
                  <a:cubicBezTo>
                    <a:pt x="12915" y="2750192"/>
                    <a:pt x="9105" y="2696617"/>
                    <a:pt x="7835" y="2640899"/>
                  </a:cubicBezTo>
                  <a:cubicBezTo>
                    <a:pt x="6565" y="2527319"/>
                    <a:pt x="2755" y="2415883"/>
                    <a:pt x="4025" y="2302304"/>
                  </a:cubicBezTo>
                  <a:cubicBezTo>
                    <a:pt x="1485" y="2160865"/>
                    <a:pt x="-3595" y="410029"/>
                    <a:pt x="4025" y="266448"/>
                  </a:cubicBezTo>
                  <a:cubicBezTo>
                    <a:pt x="5295" y="238588"/>
                    <a:pt x="4025" y="208586"/>
                    <a:pt x="5295" y="180727"/>
                  </a:cubicBezTo>
                  <a:cubicBezTo>
                    <a:pt x="6565" y="135724"/>
                    <a:pt x="9105" y="86435"/>
                    <a:pt x="10375" y="44450"/>
                  </a:cubicBezTo>
                  <a:cubicBezTo>
                    <a:pt x="10375" y="41910"/>
                    <a:pt x="11645" y="39370"/>
                    <a:pt x="12915" y="38100"/>
                  </a:cubicBezTo>
                  <a:cubicBezTo>
                    <a:pt x="34505" y="35560"/>
                    <a:pt x="52094" y="30480"/>
                    <a:pt x="67482" y="29210"/>
                  </a:cubicBezTo>
                  <a:cubicBezTo>
                    <a:pt x="93450" y="25400"/>
                    <a:pt x="119418" y="22860"/>
                    <a:pt x="146348" y="20320"/>
                  </a:cubicBezTo>
                  <a:cubicBezTo>
                    <a:pt x="164621" y="17780"/>
                    <a:pt x="182895" y="16510"/>
                    <a:pt x="200207" y="13970"/>
                  </a:cubicBezTo>
                  <a:cubicBezTo>
                    <a:pt x="217519" y="11430"/>
                    <a:pt x="235793" y="8890"/>
                    <a:pt x="253105" y="8890"/>
                  </a:cubicBezTo>
                  <a:cubicBezTo>
                    <a:pt x="272340" y="7620"/>
                    <a:pt x="291575" y="10160"/>
                    <a:pt x="310811" y="8890"/>
                  </a:cubicBezTo>
                  <a:cubicBezTo>
                    <a:pt x="334855" y="8890"/>
                    <a:pt x="770538" y="6350"/>
                    <a:pt x="794583" y="5080"/>
                  </a:cubicBezTo>
                  <a:cubicBezTo>
                    <a:pt x="817665" y="3810"/>
                    <a:pt x="840748" y="2540"/>
                    <a:pt x="864792" y="2540"/>
                  </a:cubicBezTo>
                  <a:cubicBezTo>
                    <a:pt x="904225" y="1270"/>
                    <a:pt x="942696" y="0"/>
                    <a:pt x="982129" y="0"/>
                  </a:cubicBezTo>
                  <a:cubicBezTo>
                    <a:pt x="998479" y="0"/>
                    <a:pt x="1015791" y="2540"/>
                    <a:pt x="1032141" y="2540"/>
                  </a:cubicBezTo>
                  <a:cubicBezTo>
                    <a:pt x="1077344" y="3810"/>
                    <a:pt x="1123509" y="5080"/>
                    <a:pt x="1168712" y="7620"/>
                  </a:cubicBezTo>
                  <a:cubicBezTo>
                    <a:pt x="1192757" y="8890"/>
                    <a:pt x="1216801" y="12700"/>
                    <a:pt x="1240845" y="16510"/>
                  </a:cubicBezTo>
                  <a:lnTo>
                    <a:pt x="1257883" y="16510"/>
                  </a:lnTo>
                  <a:cubicBezTo>
                    <a:pt x="1269313" y="17780"/>
                    <a:pt x="1278202" y="20320"/>
                    <a:pt x="1288363" y="21590"/>
                  </a:cubicBezTo>
                  <a:close/>
                  <a:moveTo>
                    <a:pt x="1298523" y="2795117"/>
                  </a:moveTo>
                  <a:cubicBezTo>
                    <a:pt x="1299792" y="2778607"/>
                    <a:pt x="1301063" y="2765907"/>
                    <a:pt x="1301063" y="2753207"/>
                  </a:cubicBezTo>
                  <a:cubicBezTo>
                    <a:pt x="1299792" y="2632327"/>
                    <a:pt x="1298523" y="2518747"/>
                    <a:pt x="1298523" y="2396596"/>
                  </a:cubicBezTo>
                  <a:cubicBezTo>
                    <a:pt x="1298523" y="2340878"/>
                    <a:pt x="1301063" y="2285160"/>
                    <a:pt x="1299792" y="2229442"/>
                  </a:cubicBezTo>
                  <a:cubicBezTo>
                    <a:pt x="1299792" y="2178009"/>
                    <a:pt x="1298523" y="2124434"/>
                    <a:pt x="1297252" y="2073002"/>
                  </a:cubicBezTo>
                  <a:cubicBezTo>
                    <a:pt x="1292173" y="1993711"/>
                    <a:pt x="1280742" y="352168"/>
                    <a:pt x="1280742" y="272877"/>
                  </a:cubicBezTo>
                  <a:cubicBezTo>
                    <a:pt x="1278202" y="206444"/>
                    <a:pt x="1275663" y="137867"/>
                    <a:pt x="1273123" y="71434"/>
                  </a:cubicBezTo>
                  <a:cubicBezTo>
                    <a:pt x="1271852" y="44450"/>
                    <a:pt x="1270583" y="43180"/>
                    <a:pt x="1254310" y="41910"/>
                  </a:cubicBezTo>
                  <a:cubicBezTo>
                    <a:pt x="1251425" y="41910"/>
                    <a:pt x="1249501" y="41910"/>
                    <a:pt x="1246616" y="40640"/>
                  </a:cubicBezTo>
                  <a:cubicBezTo>
                    <a:pt x="1222572" y="36830"/>
                    <a:pt x="1197566" y="31750"/>
                    <a:pt x="1173521" y="30480"/>
                  </a:cubicBezTo>
                  <a:cubicBezTo>
                    <a:pt x="1114853" y="26670"/>
                    <a:pt x="1055223" y="25400"/>
                    <a:pt x="996555" y="22860"/>
                  </a:cubicBezTo>
                  <a:lnTo>
                    <a:pt x="927307" y="22860"/>
                  </a:lnTo>
                  <a:cubicBezTo>
                    <a:pt x="896531" y="22860"/>
                    <a:pt x="865754" y="22860"/>
                    <a:pt x="835939" y="24130"/>
                  </a:cubicBezTo>
                  <a:cubicBezTo>
                    <a:pt x="809971" y="25400"/>
                    <a:pt x="372364" y="29210"/>
                    <a:pt x="346397" y="29210"/>
                  </a:cubicBezTo>
                  <a:cubicBezTo>
                    <a:pt x="304079" y="29210"/>
                    <a:pt x="261760" y="26670"/>
                    <a:pt x="219442" y="33020"/>
                  </a:cubicBezTo>
                  <a:cubicBezTo>
                    <a:pt x="197322" y="36830"/>
                    <a:pt x="176163" y="36830"/>
                    <a:pt x="155004" y="38100"/>
                  </a:cubicBezTo>
                  <a:cubicBezTo>
                    <a:pt x="118456" y="41910"/>
                    <a:pt x="81909" y="45720"/>
                    <a:pt x="45362" y="50800"/>
                  </a:cubicBezTo>
                  <a:cubicBezTo>
                    <a:pt x="33235" y="50800"/>
                    <a:pt x="30695" y="54290"/>
                    <a:pt x="29425" y="80006"/>
                  </a:cubicBezTo>
                  <a:cubicBezTo>
                    <a:pt x="28155" y="118580"/>
                    <a:pt x="28155" y="157154"/>
                    <a:pt x="26885" y="195728"/>
                  </a:cubicBezTo>
                  <a:cubicBezTo>
                    <a:pt x="25615" y="260019"/>
                    <a:pt x="23075" y="322166"/>
                    <a:pt x="21805" y="386456"/>
                  </a:cubicBezTo>
                  <a:cubicBezTo>
                    <a:pt x="16725" y="455032"/>
                    <a:pt x="23075" y="2130863"/>
                    <a:pt x="25615" y="2199440"/>
                  </a:cubicBezTo>
                  <a:cubicBezTo>
                    <a:pt x="25615" y="2272302"/>
                    <a:pt x="25615" y="2347307"/>
                    <a:pt x="26885" y="2420169"/>
                  </a:cubicBezTo>
                  <a:cubicBezTo>
                    <a:pt x="26885" y="2473744"/>
                    <a:pt x="29425" y="2527319"/>
                    <a:pt x="29425" y="2580895"/>
                  </a:cubicBezTo>
                  <a:cubicBezTo>
                    <a:pt x="29425" y="2638756"/>
                    <a:pt x="29425" y="2696617"/>
                    <a:pt x="28155" y="2753207"/>
                  </a:cubicBezTo>
                  <a:lnTo>
                    <a:pt x="28155" y="2763367"/>
                  </a:lnTo>
                  <a:cubicBezTo>
                    <a:pt x="28155" y="2773527"/>
                    <a:pt x="31965" y="2777337"/>
                    <a:pt x="40855" y="2777337"/>
                  </a:cubicBezTo>
                  <a:cubicBezTo>
                    <a:pt x="54018" y="2777337"/>
                    <a:pt x="67482" y="2778607"/>
                    <a:pt x="79985" y="2778607"/>
                  </a:cubicBezTo>
                  <a:cubicBezTo>
                    <a:pt x="98259" y="2778607"/>
                    <a:pt x="117495" y="2776067"/>
                    <a:pt x="135768" y="2778607"/>
                  </a:cubicBezTo>
                  <a:cubicBezTo>
                    <a:pt x="165583" y="2782417"/>
                    <a:pt x="195398" y="2784957"/>
                    <a:pt x="225213" y="2783687"/>
                  </a:cubicBezTo>
                  <a:cubicBezTo>
                    <a:pt x="244449" y="2782417"/>
                    <a:pt x="262722" y="2784957"/>
                    <a:pt x="281958" y="2784957"/>
                  </a:cubicBezTo>
                  <a:cubicBezTo>
                    <a:pt x="309849" y="2784957"/>
                    <a:pt x="337741" y="2783687"/>
                    <a:pt x="365632" y="2784957"/>
                  </a:cubicBezTo>
                  <a:cubicBezTo>
                    <a:pt x="406988" y="2786227"/>
                    <a:pt x="860945" y="2776067"/>
                    <a:pt x="903263" y="2778607"/>
                  </a:cubicBezTo>
                  <a:cubicBezTo>
                    <a:pt x="921537" y="2779877"/>
                    <a:pt x="939810" y="2781147"/>
                    <a:pt x="957122" y="2781147"/>
                  </a:cubicBezTo>
                  <a:cubicBezTo>
                    <a:pt x="988861" y="2783687"/>
                    <a:pt x="1019638" y="2779877"/>
                    <a:pt x="1051376" y="2783687"/>
                  </a:cubicBezTo>
                  <a:cubicBezTo>
                    <a:pt x="1077344" y="2786227"/>
                    <a:pt x="1103312" y="2786227"/>
                    <a:pt x="1129280" y="2788767"/>
                  </a:cubicBezTo>
                  <a:cubicBezTo>
                    <a:pt x="1167751" y="2792577"/>
                    <a:pt x="1206222" y="2795117"/>
                    <a:pt x="1244693" y="2796387"/>
                  </a:cubicBezTo>
                  <a:cubicBezTo>
                    <a:pt x="1260423" y="2796387"/>
                    <a:pt x="1278202" y="2795117"/>
                    <a:pt x="1298523" y="2795117"/>
                  </a:cubicBezTo>
                  <a:close/>
                </a:path>
              </a:pathLst>
            </a:custGeom>
            <a:solidFill>
              <a:srgbClr val="2A2B39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7297462" y="4963441"/>
            <a:ext cx="1067819" cy="1067819"/>
            <a:chOff x="0" y="0"/>
            <a:chExt cx="1423758" cy="1423758"/>
          </a:xfrm>
        </p:grpSpPr>
        <p:grpSp>
          <p:nvGrpSpPr>
            <p:cNvPr name="Group 30" id="30"/>
            <p:cNvGrpSpPr/>
            <p:nvPr/>
          </p:nvGrpSpPr>
          <p:grpSpPr>
            <a:xfrm rot="0">
              <a:off x="0" y="0"/>
              <a:ext cx="1423758" cy="1423758"/>
              <a:chOff x="0" y="0"/>
              <a:chExt cx="812800" cy="812800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AAD175"/>
              </a:solidFill>
              <a:ln w="38100" cap="sq">
                <a:solidFill>
                  <a:srgbClr val="2A2B39"/>
                </a:solidFill>
                <a:prstDash val="solid"/>
                <a:miter/>
              </a:ln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76200" y="66675"/>
                <a:ext cx="660400" cy="6699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762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33" id="33"/>
            <p:cNvSpPr txBox="true"/>
            <p:nvPr/>
          </p:nvSpPr>
          <p:spPr>
            <a:xfrm rot="0">
              <a:off x="347190" y="124524"/>
              <a:ext cx="729379" cy="12741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6197"/>
                </a:lnSpc>
              </a:pPr>
              <a:r>
                <a:rPr lang="en-US" sz="6323" spc="316">
                  <a:solidFill>
                    <a:srgbClr val="2A2B39"/>
                  </a:solidFill>
                  <a:latin typeface="Ballpoint"/>
                  <a:ea typeface="Ballpoint"/>
                  <a:cs typeface="Ballpoint"/>
                  <a:sym typeface="Ballpoint"/>
                </a:rPr>
                <a:t>3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1358556" y="2741135"/>
            <a:ext cx="2865611" cy="5994660"/>
            <a:chOff x="0" y="0"/>
            <a:chExt cx="1357998" cy="2840837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39974" y="45156"/>
              <a:ext cx="1318023" cy="2794976"/>
            </a:xfrm>
            <a:custGeom>
              <a:avLst/>
              <a:gdLst/>
              <a:ahLst/>
              <a:cxnLst/>
              <a:rect r="r" b="b" t="t" l="l"/>
              <a:pathLst>
                <a:path h="2794976" w="1318023">
                  <a:moveTo>
                    <a:pt x="666" y="2765201"/>
                  </a:moveTo>
                  <a:cubicBezTo>
                    <a:pt x="-1874" y="2774091"/>
                    <a:pt x="3206" y="2780441"/>
                    <a:pt x="9981" y="2781711"/>
                  </a:cubicBezTo>
                  <a:cubicBezTo>
                    <a:pt x="17676" y="2782981"/>
                    <a:pt x="24408" y="2782981"/>
                    <a:pt x="32102" y="2782981"/>
                  </a:cubicBezTo>
                  <a:cubicBezTo>
                    <a:pt x="62879" y="2784251"/>
                    <a:pt x="93656" y="2784251"/>
                    <a:pt x="125394" y="2785521"/>
                  </a:cubicBezTo>
                  <a:cubicBezTo>
                    <a:pt x="142706" y="2786791"/>
                    <a:pt x="160018" y="2788061"/>
                    <a:pt x="176368" y="2789331"/>
                  </a:cubicBezTo>
                  <a:cubicBezTo>
                    <a:pt x="205221" y="2790601"/>
                    <a:pt x="233113" y="2790601"/>
                    <a:pt x="261966" y="2791871"/>
                  </a:cubicBezTo>
                  <a:cubicBezTo>
                    <a:pt x="273507" y="2791871"/>
                    <a:pt x="284087" y="2791871"/>
                    <a:pt x="295628" y="2790601"/>
                  </a:cubicBezTo>
                  <a:cubicBezTo>
                    <a:pt x="300437" y="2790601"/>
                    <a:pt x="306208" y="2789331"/>
                    <a:pt x="311016" y="2789331"/>
                  </a:cubicBezTo>
                  <a:cubicBezTo>
                    <a:pt x="330252" y="2790601"/>
                    <a:pt x="714961" y="2781711"/>
                    <a:pt x="734197" y="2782981"/>
                  </a:cubicBezTo>
                  <a:cubicBezTo>
                    <a:pt x="761126" y="2784251"/>
                    <a:pt x="835183" y="2784251"/>
                    <a:pt x="862112" y="2784251"/>
                  </a:cubicBezTo>
                  <a:cubicBezTo>
                    <a:pt x="872692" y="2784251"/>
                    <a:pt x="882310" y="2782981"/>
                    <a:pt x="892889" y="2782981"/>
                  </a:cubicBezTo>
                  <a:lnTo>
                    <a:pt x="944825" y="2786791"/>
                  </a:lnTo>
                  <a:cubicBezTo>
                    <a:pt x="982334" y="2789331"/>
                    <a:pt x="1018881" y="2786791"/>
                    <a:pt x="1056391" y="2790601"/>
                  </a:cubicBezTo>
                  <a:cubicBezTo>
                    <a:pt x="1118906" y="2795681"/>
                    <a:pt x="1182383" y="2789331"/>
                    <a:pt x="1254524" y="2794411"/>
                  </a:cubicBezTo>
                  <a:cubicBezTo>
                    <a:pt x="1274844" y="2795681"/>
                    <a:pt x="1295163" y="2794411"/>
                    <a:pt x="1318024" y="2794411"/>
                  </a:cubicBezTo>
                  <a:lnTo>
                    <a:pt x="1318024" y="2734721"/>
                  </a:lnTo>
                  <a:cubicBezTo>
                    <a:pt x="1316753" y="2645032"/>
                    <a:pt x="1315484" y="2542168"/>
                    <a:pt x="1315484" y="2432874"/>
                  </a:cubicBezTo>
                  <a:cubicBezTo>
                    <a:pt x="1315484" y="2306437"/>
                    <a:pt x="1319294" y="2177857"/>
                    <a:pt x="1312944" y="2051419"/>
                  </a:cubicBezTo>
                  <a:cubicBezTo>
                    <a:pt x="1305324" y="1967842"/>
                    <a:pt x="1293894" y="319870"/>
                    <a:pt x="1293894" y="236293"/>
                  </a:cubicBezTo>
                  <a:cubicBezTo>
                    <a:pt x="1291353" y="178432"/>
                    <a:pt x="1290084" y="118427"/>
                    <a:pt x="1287544" y="60566"/>
                  </a:cubicBezTo>
                  <a:cubicBezTo>
                    <a:pt x="1287544" y="43422"/>
                    <a:pt x="1286274" y="26278"/>
                    <a:pt x="1285003" y="5644"/>
                  </a:cubicBezTo>
                  <a:cubicBezTo>
                    <a:pt x="1274844" y="3104"/>
                    <a:pt x="1265953" y="1834"/>
                    <a:pt x="1255794" y="564"/>
                  </a:cubicBezTo>
                  <a:cubicBezTo>
                    <a:pt x="1248174" y="-706"/>
                    <a:pt x="1240553" y="564"/>
                    <a:pt x="1234203" y="564"/>
                  </a:cubicBezTo>
                  <a:lnTo>
                    <a:pt x="5173" y="5644"/>
                  </a:lnTo>
                  <a:lnTo>
                    <a:pt x="666" y="2765201"/>
                  </a:lnTo>
                  <a:close/>
                </a:path>
              </a:pathLst>
            </a:custGeom>
            <a:solidFill>
              <a:srgbClr val="FFDA68"/>
            </a:solidFill>
          </p:spPr>
        </p:sp>
        <p:sp>
          <p:nvSpPr>
            <p:cNvPr name="Freeform 36" id="36"/>
            <p:cNvSpPr/>
            <p:nvPr/>
          </p:nvSpPr>
          <p:spPr>
            <a:xfrm flipH="false" flipV="false" rot="0">
              <a:off x="11430" y="16510"/>
              <a:ext cx="1297038" cy="2786227"/>
            </a:xfrm>
            <a:custGeom>
              <a:avLst/>
              <a:gdLst/>
              <a:ahLst/>
              <a:cxnLst/>
              <a:rect r="r" b="b" t="t" l="l"/>
              <a:pathLst>
                <a:path h="2786227" w="1297038">
                  <a:moveTo>
                    <a:pt x="1297038" y="2786227"/>
                  </a:moveTo>
                  <a:lnTo>
                    <a:pt x="0" y="2778607"/>
                  </a:lnTo>
                  <a:lnTo>
                    <a:pt x="0" y="984989"/>
                  </a:lnTo>
                  <a:lnTo>
                    <a:pt x="7620" y="20320"/>
                  </a:lnTo>
                  <a:lnTo>
                    <a:pt x="642519" y="0"/>
                  </a:lnTo>
                  <a:lnTo>
                    <a:pt x="1275448" y="8890"/>
                  </a:lnTo>
                  <a:close/>
                </a:path>
              </a:pathLst>
            </a:custGeom>
            <a:solidFill>
              <a:srgbClr val="FFE492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-215" y="0"/>
              <a:ext cx="1321382" cy="2812191"/>
            </a:xfrm>
            <a:custGeom>
              <a:avLst/>
              <a:gdLst/>
              <a:ahLst/>
              <a:cxnLst/>
              <a:rect r="r" b="b" t="t" l="l"/>
              <a:pathLst>
                <a:path h="2812191" w="1321382">
                  <a:moveTo>
                    <a:pt x="1288363" y="21590"/>
                  </a:moveTo>
                  <a:cubicBezTo>
                    <a:pt x="1289633" y="34290"/>
                    <a:pt x="1289633" y="44450"/>
                    <a:pt x="1290902" y="56433"/>
                  </a:cubicBezTo>
                  <a:cubicBezTo>
                    <a:pt x="1293442" y="114294"/>
                    <a:pt x="1294713" y="174298"/>
                    <a:pt x="1297252" y="232160"/>
                  </a:cubicBezTo>
                  <a:cubicBezTo>
                    <a:pt x="1297252" y="315737"/>
                    <a:pt x="1309952" y="1963709"/>
                    <a:pt x="1316302" y="2047286"/>
                  </a:cubicBezTo>
                  <a:cubicBezTo>
                    <a:pt x="1322652" y="2173723"/>
                    <a:pt x="1318842" y="2302304"/>
                    <a:pt x="1318842" y="2428741"/>
                  </a:cubicBezTo>
                  <a:cubicBezTo>
                    <a:pt x="1318842" y="2540177"/>
                    <a:pt x="1320113" y="2643042"/>
                    <a:pt x="1321383" y="2751937"/>
                  </a:cubicBezTo>
                  <a:lnTo>
                    <a:pt x="1321383" y="2811627"/>
                  </a:lnTo>
                  <a:cubicBezTo>
                    <a:pt x="1298523" y="2811627"/>
                    <a:pt x="1278202" y="2812897"/>
                    <a:pt x="1257883" y="2811627"/>
                  </a:cubicBezTo>
                  <a:cubicBezTo>
                    <a:pt x="1194680" y="2806547"/>
                    <a:pt x="1131203" y="2812897"/>
                    <a:pt x="1068688" y="2807817"/>
                  </a:cubicBezTo>
                  <a:cubicBezTo>
                    <a:pt x="1031179" y="2804007"/>
                    <a:pt x="994632" y="2806547"/>
                    <a:pt x="957122" y="2804007"/>
                  </a:cubicBezTo>
                  <a:lnTo>
                    <a:pt x="905187" y="2800197"/>
                  </a:lnTo>
                  <a:cubicBezTo>
                    <a:pt x="894607" y="2800197"/>
                    <a:pt x="884989" y="2801467"/>
                    <a:pt x="874410" y="2801467"/>
                  </a:cubicBezTo>
                  <a:cubicBezTo>
                    <a:pt x="847480" y="2800197"/>
                    <a:pt x="773424" y="2801467"/>
                    <a:pt x="746494" y="2800197"/>
                  </a:cubicBezTo>
                  <a:cubicBezTo>
                    <a:pt x="727259" y="2798927"/>
                    <a:pt x="342549" y="2807817"/>
                    <a:pt x="323314" y="2806547"/>
                  </a:cubicBezTo>
                  <a:cubicBezTo>
                    <a:pt x="318505" y="2806547"/>
                    <a:pt x="312734" y="2807817"/>
                    <a:pt x="307926" y="2807817"/>
                  </a:cubicBezTo>
                  <a:cubicBezTo>
                    <a:pt x="296384" y="2807817"/>
                    <a:pt x="285805" y="2809087"/>
                    <a:pt x="274264" y="2809087"/>
                  </a:cubicBezTo>
                  <a:cubicBezTo>
                    <a:pt x="245410" y="2809087"/>
                    <a:pt x="217519" y="2807817"/>
                    <a:pt x="188666" y="2806547"/>
                  </a:cubicBezTo>
                  <a:cubicBezTo>
                    <a:pt x="171354" y="2805277"/>
                    <a:pt x="154042" y="2804007"/>
                    <a:pt x="137692" y="2802737"/>
                  </a:cubicBezTo>
                  <a:cubicBezTo>
                    <a:pt x="106915" y="2801467"/>
                    <a:pt x="76138" y="2800197"/>
                    <a:pt x="44400" y="2800197"/>
                  </a:cubicBezTo>
                  <a:cubicBezTo>
                    <a:pt x="34505" y="2800197"/>
                    <a:pt x="25615" y="2800197"/>
                    <a:pt x="15455" y="2798927"/>
                  </a:cubicBezTo>
                  <a:cubicBezTo>
                    <a:pt x="6565" y="2797657"/>
                    <a:pt x="1485" y="2791307"/>
                    <a:pt x="4025" y="2782417"/>
                  </a:cubicBezTo>
                  <a:cubicBezTo>
                    <a:pt x="12915" y="2750192"/>
                    <a:pt x="9105" y="2696617"/>
                    <a:pt x="7835" y="2640899"/>
                  </a:cubicBezTo>
                  <a:cubicBezTo>
                    <a:pt x="6565" y="2527319"/>
                    <a:pt x="2755" y="2415883"/>
                    <a:pt x="4025" y="2302304"/>
                  </a:cubicBezTo>
                  <a:cubicBezTo>
                    <a:pt x="1485" y="2160865"/>
                    <a:pt x="-3595" y="410029"/>
                    <a:pt x="4025" y="266448"/>
                  </a:cubicBezTo>
                  <a:cubicBezTo>
                    <a:pt x="5295" y="238588"/>
                    <a:pt x="4025" y="208586"/>
                    <a:pt x="5295" y="180727"/>
                  </a:cubicBezTo>
                  <a:cubicBezTo>
                    <a:pt x="6565" y="135724"/>
                    <a:pt x="9105" y="86435"/>
                    <a:pt x="10375" y="44450"/>
                  </a:cubicBezTo>
                  <a:cubicBezTo>
                    <a:pt x="10375" y="41910"/>
                    <a:pt x="11645" y="39370"/>
                    <a:pt x="12915" y="38100"/>
                  </a:cubicBezTo>
                  <a:cubicBezTo>
                    <a:pt x="34505" y="35560"/>
                    <a:pt x="52094" y="30480"/>
                    <a:pt x="67482" y="29210"/>
                  </a:cubicBezTo>
                  <a:cubicBezTo>
                    <a:pt x="93450" y="25400"/>
                    <a:pt x="119418" y="22860"/>
                    <a:pt x="146348" y="20320"/>
                  </a:cubicBezTo>
                  <a:cubicBezTo>
                    <a:pt x="164621" y="17780"/>
                    <a:pt x="182895" y="16510"/>
                    <a:pt x="200207" y="13970"/>
                  </a:cubicBezTo>
                  <a:cubicBezTo>
                    <a:pt x="217519" y="11430"/>
                    <a:pt x="235793" y="8890"/>
                    <a:pt x="253105" y="8890"/>
                  </a:cubicBezTo>
                  <a:cubicBezTo>
                    <a:pt x="272340" y="7620"/>
                    <a:pt x="291575" y="10160"/>
                    <a:pt x="310811" y="8890"/>
                  </a:cubicBezTo>
                  <a:cubicBezTo>
                    <a:pt x="334855" y="8890"/>
                    <a:pt x="770538" y="6350"/>
                    <a:pt x="794583" y="5080"/>
                  </a:cubicBezTo>
                  <a:cubicBezTo>
                    <a:pt x="817665" y="3810"/>
                    <a:pt x="840748" y="2540"/>
                    <a:pt x="864792" y="2540"/>
                  </a:cubicBezTo>
                  <a:cubicBezTo>
                    <a:pt x="904225" y="1270"/>
                    <a:pt x="942696" y="0"/>
                    <a:pt x="982129" y="0"/>
                  </a:cubicBezTo>
                  <a:cubicBezTo>
                    <a:pt x="998479" y="0"/>
                    <a:pt x="1015791" y="2540"/>
                    <a:pt x="1032141" y="2540"/>
                  </a:cubicBezTo>
                  <a:cubicBezTo>
                    <a:pt x="1077344" y="3810"/>
                    <a:pt x="1123509" y="5080"/>
                    <a:pt x="1168712" y="7620"/>
                  </a:cubicBezTo>
                  <a:cubicBezTo>
                    <a:pt x="1192757" y="8890"/>
                    <a:pt x="1216801" y="12700"/>
                    <a:pt x="1240845" y="16510"/>
                  </a:cubicBezTo>
                  <a:lnTo>
                    <a:pt x="1257883" y="16510"/>
                  </a:lnTo>
                  <a:cubicBezTo>
                    <a:pt x="1269313" y="17780"/>
                    <a:pt x="1278202" y="20320"/>
                    <a:pt x="1288363" y="21590"/>
                  </a:cubicBezTo>
                  <a:close/>
                  <a:moveTo>
                    <a:pt x="1298523" y="2795117"/>
                  </a:moveTo>
                  <a:cubicBezTo>
                    <a:pt x="1299792" y="2778607"/>
                    <a:pt x="1301063" y="2765907"/>
                    <a:pt x="1301063" y="2753207"/>
                  </a:cubicBezTo>
                  <a:cubicBezTo>
                    <a:pt x="1299792" y="2632327"/>
                    <a:pt x="1298523" y="2518747"/>
                    <a:pt x="1298523" y="2396596"/>
                  </a:cubicBezTo>
                  <a:cubicBezTo>
                    <a:pt x="1298523" y="2340878"/>
                    <a:pt x="1301063" y="2285160"/>
                    <a:pt x="1299792" y="2229442"/>
                  </a:cubicBezTo>
                  <a:cubicBezTo>
                    <a:pt x="1299792" y="2178009"/>
                    <a:pt x="1298523" y="2124434"/>
                    <a:pt x="1297252" y="2073002"/>
                  </a:cubicBezTo>
                  <a:cubicBezTo>
                    <a:pt x="1292173" y="1993711"/>
                    <a:pt x="1280742" y="352168"/>
                    <a:pt x="1280742" y="272877"/>
                  </a:cubicBezTo>
                  <a:cubicBezTo>
                    <a:pt x="1278202" y="206444"/>
                    <a:pt x="1275663" y="137867"/>
                    <a:pt x="1273123" y="71434"/>
                  </a:cubicBezTo>
                  <a:cubicBezTo>
                    <a:pt x="1271852" y="44450"/>
                    <a:pt x="1270583" y="43180"/>
                    <a:pt x="1254310" y="41910"/>
                  </a:cubicBezTo>
                  <a:cubicBezTo>
                    <a:pt x="1251425" y="41910"/>
                    <a:pt x="1249501" y="41910"/>
                    <a:pt x="1246616" y="40640"/>
                  </a:cubicBezTo>
                  <a:cubicBezTo>
                    <a:pt x="1222572" y="36830"/>
                    <a:pt x="1197566" y="31750"/>
                    <a:pt x="1173521" y="30480"/>
                  </a:cubicBezTo>
                  <a:cubicBezTo>
                    <a:pt x="1114853" y="26670"/>
                    <a:pt x="1055223" y="25400"/>
                    <a:pt x="996555" y="22860"/>
                  </a:cubicBezTo>
                  <a:lnTo>
                    <a:pt x="927307" y="22860"/>
                  </a:lnTo>
                  <a:cubicBezTo>
                    <a:pt x="896531" y="22860"/>
                    <a:pt x="865754" y="22860"/>
                    <a:pt x="835939" y="24130"/>
                  </a:cubicBezTo>
                  <a:cubicBezTo>
                    <a:pt x="809971" y="25400"/>
                    <a:pt x="372364" y="29210"/>
                    <a:pt x="346397" y="29210"/>
                  </a:cubicBezTo>
                  <a:cubicBezTo>
                    <a:pt x="304079" y="29210"/>
                    <a:pt x="261760" y="26670"/>
                    <a:pt x="219442" y="33020"/>
                  </a:cubicBezTo>
                  <a:cubicBezTo>
                    <a:pt x="197322" y="36830"/>
                    <a:pt x="176163" y="36830"/>
                    <a:pt x="155004" y="38100"/>
                  </a:cubicBezTo>
                  <a:cubicBezTo>
                    <a:pt x="118456" y="41910"/>
                    <a:pt x="81909" y="45720"/>
                    <a:pt x="45362" y="50800"/>
                  </a:cubicBezTo>
                  <a:cubicBezTo>
                    <a:pt x="33235" y="50800"/>
                    <a:pt x="30695" y="54290"/>
                    <a:pt x="29425" y="80006"/>
                  </a:cubicBezTo>
                  <a:cubicBezTo>
                    <a:pt x="28155" y="118580"/>
                    <a:pt x="28155" y="157154"/>
                    <a:pt x="26885" y="195728"/>
                  </a:cubicBezTo>
                  <a:cubicBezTo>
                    <a:pt x="25615" y="260019"/>
                    <a:pt x="23075" y="322166"/>
                    <a:pt x="21805" y="386456"/>
                  </a:cubicBezTo>
                  <a:cubicBezTo>
                    <a:pt x="16725" y="455032"/>
                    <a:pt x="23075" y="2130863"/>
                    <a:pt x="25615" y="2199440"/>
                  </a:cubicBezTo>
                  <a:cubicBezTo>
                    <a:pt x="25615" y="2272302"/>
                    <a:pt x="25615" y="2347307"/>
                    <a:pt x="26885" y="2420169"/>
                  </a:cubicBezTo>
                  <a:cubicBezTo>
                    <a:pt x="26885" y="2473744"/>
                    <a:pt x="29425" y="2527319"/>
                    <a:pt x="29425" y="2580895"/>
                  </a:cubicBezTo>
                  <a:cubicBezTo>
                    <a:pt x="29425" y="2638756"/>
                    <a:pt x="29425" y="2696617"/>
                    <a:pt x="28155" y="2753207"/>
                  </a:cubicBezTo>
                  <a:lnTo>
                    <a:pt x="28155" y="2763367"/>
                  </a:lnTo>
                  <a:cubicBezTo>
                    <a:pt x="28155" y="2773527"/>
                    <a:pt x="31965" y="2777337"/>
                    <a:pt x="40855" y="2777337"/>
                  </a:cubicBezTo>
                  <a:cubicBezTo>
                    <a:pt x="54018" y="2777337"/>
                    <a:pt x="67482" y="2778607"/>
                    <a:pt x="79985" y="2778607"/>
                  </a:cubicBezTo>
                  <a:cubicBezTo>
                    <a:pt x="98259" y="2778607"/>
                    <a:pt x="117495" y="2776067"/>
                    <a:pt x="135768" y="2778607"/>
                  </a:cubicBezTo>
                  <a:cubicBezTo>
                    <a:pt x="165583" y="2782417"/>
                    <a:pt x="195398" y="2784957"/>
                    <a:pt x="225213" y="2783687"/>
                  </a:cubicBezTo>
                  <a:cubicBezTo>
                    <a:pt x="244449" y="2782417"/>
                    <a:pt x="262722" y="2784957"/>
                    <a:pt x="281958" y="2784957"/>
                  </a:cubicBezTo>
                  <a:cubicBezTo>
                    <a:pt x="309849" y="2784957"/>
                    <a:pt x="337741" y="2783687"/>
                    <a:pt x="365632" y="2784957"/>
                  </a:cubicBezTo>
                  <a:cubicBezTo>
                    <a:pt x="406988" y="2786227"/>
                    <a:pt x="860945" y="2776067"/>
                    <a:pt x="903263" y="2778607"/>
                  </a:cubicBezTo>
                  <a:cubicBezTo>
                    <a:pt x="921537" y="2779877"/>
                    <a:pt x="939810" y="2781147"/>
                    <a:pt x="957122" y="2781147"/>
                  </a:cubicBezTo>
                  <a:cubicBezTo>
                    <a:pt x="988861" y="2783687"/>
                    <a:pt x="1019638" y="2779877"/>
                    <a:pt x="1051376" y="2783687"/>
                  </a:cubicBezTo>
                  <a:cubicBezTo>
                    <a:pt x="1077344" y="2786227"/>
                    <a:pt x="1103312" y="2786227"/>
                    <a:pt x="1129280" y="2788767"/>
                  </a:cubicBezTo>
                  <a:cubicBezTo>
                    <a:pt x="1167751" y="2792577"/>
                    <a:pt x="1206222" y="2795117"/>
                    <a:pt x="1244693" y="2796387"/>
                  </a:cubicBezTo>
                  <a:cubicBezTo>
                    <a:pt x="1260423" y="2796387"/>
                    <a:pt x="1278202" y="2795117"/>
                    <a:pt x="1298523" y="2795117"/>
                  </a:cubicBezTo>
                  <a:close/>
                </a:path>
              </a:pathLst>
            </a:custGeom>
            <a:solidFill>
              <a:srgbClr val="2A2B39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0824647" y="4963441"/>
            <a:ext cx="1067819" cy="1067819"/>
            <a:chOff x="0" y="0"/>
            <a:chExt cx="1423758" cy="1423758"/>
          </a:xfrm>
        </p:grpSpPr>
        <p:grpSp>
          <p:nvGrpSpPr>
            <p:cNvPr name="Group 39" id="39"/>
            <p:cNvGrpSpPr/>
            <p:nvPr/>
          </p:nvGrpSpPr>
          <p:grpSpPr>
            <a:xfrm rot="0">
              <a:off x="0" y="0"/>
              <a:ext cx="1423758" cy="1423758"/>
              <a:chOff x="0" y="0"/>
              <a:chExt cx="812800" cy="812800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DA68"/>
              </a:solidFill>
              <a:ln w="38100" cap="sq">
                <a:solidFill>
                  <a:srgbClr val="2A2B39"/>
                </a:solidFill>
                <a:prstDash val="solid"/>
                <a:miter/>
              </a:ln>
            </p:spPr>
          </p:sp>
          <p:sp>
            <p:nvSpPr>
              <p:cNvPr name="TextBox 41" id="41"/>
              <p:cNvSpPr txBox="true"/>
              <p:nvPr/>
            </p:nvSpPr>
            <p:spPr>
              <a:xfrm>
                <a:off x="76200" y="66675"/>
                <a:ext cx="660400" cy="6699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762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42" id="42"/>
            <p:cNvSpPr txBox="true"/>
            <p:nvPr/>
          </p:nvSpPr>
          <p:spPr>
            <a:xfrm rot="0">
              <a:off x="347190" y="124524"/>
              <a:ext cx="729379" cy="12741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6197"/>
                </a:lnSpc>
              </a:pPr>
              <a:r>
                <a:rPr lang="en-US" sz="6323" spc="316">
                  <a:solidFill>
                    <a:srgbClr val="2A2B39"/>
                  </a:solidFill>
                  <a:latin typeface="Ballpoint"/>
                  <a:ea typeface="Ballpoint"/>
                  <a:cs typeface="Ballpoint"/>
                  <a:sym typeface="Ballpoint"/>
                </a:rPr>
                <a:t>4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4351832" y="4963441"/>
            <a:ext cx="1067819" cy="1067819"/>
            <a:chOff x="0" y="0"/>
            <a:chExt cx="1423758" cy="1423758"/>
          </a:xfrm>
        </p:grpSpPr>
        <p:grpSp>
          <p:nvGrpSpPr>
            <p:cNvPr name="Group 44" id="44"/>
            <p:cNvGrpSpPr/>
            <p:nvPr/>
          </p:nvGrpSpPr>
          <p:grpSpPr>
            <a:xfrm rot="0">
              <a:off x="0" y="0"/>
              <a:ext cx="1423758" cy="1423758"/>
              <a:chOff x="0" y="0"/>
              <a:chExt cx="812800" cy="812800"/>
            </a:xfrm>
          </p:grpSpPr>
          <p:sp>
            <p:nvSpPr>
              <p:cNvPr name="Freeform 45" id="4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AADF"/>
              </a:solidFill>
              <a:ln w="38100" cap="sq">
                <a:solidFill>
                  <a:srgbClr val="2A2B39"/>
                </a:solidFill>
                <a:prstDash val="solid"/>
                <a:miter/>
              </a:ln>
            </p:spPr>
          </p:sp>
          <p:sp>
            <p:nvSpPr>
              <p:cNvPr name="TextBox 46" id="46"/>
              <p:cNvSpPr txBox="true"/>
              <p:nvPr/>
            </p:nvSpPr>
            <p:spPr>
              <a:xfrm>
                <a:off x="76200" y="66675"/>
                <a:ext cx="660400" cy="6699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762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47" id="47"/>
            <p:cNvSpPr txBox="true"/>
            <p:nvPr/>
          </p:nvSpPr>
          <p:spPr>
            <a:xfrm rot="0">
              <a:off x="347190" y="124524"/>
              <a:ext cx="729379" cy="12741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6197"/>
                </a:lnSpc>
              </a:pPr>
              <a:r>
                <a:rPr lang="en-US" sz="6323" spc="316">
                  <a:solidFill>
                    <a:srgbClr val="2A2B39"/>
                  </a:solidFill>
                  <a:latin typeface="Ballpoint"/>
                  <a:ea typeface="Ballpoint"/>
                  <a:cs typeface="Ballpoint"/>
                  <a:sym typeface="Ballpoint"/>
                </a:rPr>
                <a:t>5</a:t>
              </a:r>
            </a:p>
          </p:txBody>
        </p:sp>
      </p:grpSp>
      <p:sp>
        <p:nvSpPr>
          <p:cNvPr name="Freeform 48" id="48"/>
          <p:cNvSpPr/>
          <p:nvPr/>
        </p:nvSpPr>
        <p:spPr>
          <a:xfrm flipH="false" flipV="false" rot="0">
            <a:off x="1151847" y="7734744"/>
            <a:ext cx="2229551" cy="905755"/>
          </a:xfrm>
          <a:custGeom>
            <a:avLst/>
            <a:gdLst/>
            <a:ahLst/>
            <a:cxnLst/>
            <a:rect r="r" b="b" t="t" l="l"/>
            <a:pathLst>
              <a:path h="905755" w="2229551">
                <a:moveTo>
                  <a:pt x="0" y="0"/>
                </a:moveTo>
                <a:lnTo>
                  <a:pt x="2229551" y="0"/>
                </a:lnTo>
                <a:lnTo>
                  <a:pt x="2229551" y="905755"/>
                </a:lnTo>
                <a:lnTo>
                  <a:pt x="0" y="90575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9" id="49"/>
          <p:cNvSpPr/>
          <p:nvPr/>
        </p:nvSpPr>
        <p:spPr>
          <a:xfrm flipH="false" flipV="false" rot="0">
            <a:off x="4838095" y="6936949"/>
            <a:ext cx="1648185" cy="1703550"/>
          </a:xfrm>
          <a:custGeom>
            <a:avLst/>
            <a:gdLst/>
            <a:ahLst/>
            <a:cxnLst/>
            <a:rect r="r" b="b" t="t" l="l"/>
            <a:pathLst>
              <a:path h="1703550" w="1648185">
                <a:moveTo>
                  <a:pt x="0" y="0"/>
                </a:moveTo>
                <a:lnTo>
                  <a:pt x="1648185" y="0"/>
                </a:lnTo>
                <a:lnTo>
                  <a:pt x="1648185" y="1703550"/>
                </a:lnTo>
                <a:lnTo>
                  <a:pt x="0" y="170355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0" id="50"/>
          <p:cNvSpPr/>
          <p:nvPr/>
        </p:nvSpPr>
        <p:spPr>
          <a:xfrm flipH="false" flipV="false" rot="0">
            <a:off x="8429224" y="6936949"/>
            <a:ext cx="1662466" cy="1689927"/>
          </a:xfrm>
          <a:custGeom>
            <a:avLst/>
            <a:gdLst/>
            <a:ahLst/>
            <a:cxnLst/>
            <a:rect r="r" b="b" t="t" l="l"/>
            <a:pathLst>
              <a:path h="1689927" w="1662466">
                <a:moveTo>
                  <a:pt x="0" y="0"/>
                </a:moveTo>
                <a:lnTo>
                  <a:pt x="1662466" y="0"/>
                </a:lnTo>
                <a:lnTo>
                  <a:pt x="1662466" y="1689927"/>
                </a:lnTo>
                <a:lnTo>
                  <a:pt x="0" y="168992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1" id="51"/>
          <p:cNvSpPr/>
          <p:nvPr/>
        </p:nvSpPr>
        <p:spPr>
          <a:xfrm flipH="false" flipV="false" rot="0">
            <a:off x="11755320" y="7116943"/>
            <a:ext cx="1898512" cy="1523556"/>
          </a:xfrm>
          <a:custGeom>
            <a:avLst/>
            <a:gdLst/>
            <a:ahLst/>
            <a:cxnLst/>
            <a:rect r="r" b="b" t="t" l="l"/>
            <a:pathLst>
              <a:path h="1523556" w="1898512">
                <a:moveTo>
                  <a:pt x="0" y="0"/>
                </a:moveTo>
                <a:lnTo>
                  <a:pt x="1898512" y="0"/>
                </a:lnTo>
                <a:lnTo>
                  <a:pt x="1898512" y="1523556"/>
                </a:lnTo>
                <a:lnTo>
                  <a:pt x="0" y="152355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52" id="52"/>
          <p:cNvSpPr/>
          <p:nvPr/>
        </p:nvSpPr>
        <p:spPr>
          <a:xfrm flipH="false" flipV="false" rot="0">
            <a:off x="15681492" y="7242263"/>
            <a:ext cx="1272915" cy="1272915"/>
          </a:xfrm>
          <a:custGeom>
            <a:avLst/>
            <a:gdLst/>
            <a:ahLst/>
            <a:cxnLst/>
            <a:rect r="r" b="b" t="t" l="l"/>
            <a:pathLst>
              <a:path h="1272915" w="1272915">
                <a:moveTo>
                  <a:pt x="0" y="0"/>
                </a:moveTo>
                <a:lnTo>
                  <a:pt x="1272915" y="0"/>
                </a:lnTo>
                <a:lnTo>
                  <a:pt x="1272915" y="1272915"/>
                </a:lnTo>
                <a:lnTo>
                  <a:pt x="0" y="127291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3" id="53"/>
          <p:cNvSpPr txBox="true"/>
          <p:nvPr/>
        </p:nvSpPr>
        <p:spPr>
          <a:xfrm rot="0">
            <a:off x="1282392" y="4048857"/>
            <a:ext cx="1655027" cy="501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59"/>
              </a:lnSpc>
            </a:pPr>
            <a:r>
              <a:rPr lang="en-US" sz="3093">
                <a:solidFill>
                  <a:srgbClr val="2A2B39"/>
                </a:solidFill>
                <a:latin typeface="Bobby Jones Soft"/>
                <a:ea typeface="Bobby Jones Soft"/>
                <a:cs typeface="Bobby Jones Soft"/>
                <a:sym typeface="Bobby Jones Soft"/>
              </a:rPr>
              <a:t>Gulf War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4369928" y="3819899"/>
            <a:ext cx="2736101" cy="8702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09"/>
              </a:lnSpc>
            </a:pPr>
            <a:r>
              <a:rPr lang="en-US" sz="3093">
                <a:solidFill>
                  <a:srgbClr val="2A2B39"/>
                </a:solidFill>
                <a:latin typeface="Bobby Jones Soft"/>
                <a:ea typeface="Bobby Jones Soft"/>
                <a:cs typeface="Bobby Jones Soft"/>
                <a:sym typeface="Bobby Jones Soft"/>
              </a:rPr>
              <a:t>Global financial Crisis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426856" y="4934866"/>
            <a:ext cx="1857646" cy="1337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08"/>
              </a:lnSpc>
            </a:pPr>
            <a:r>
              <a:rPr lang="en-US" sz="1647">
                <a:solidFill>
                  <a:srgbClr val="2A2B39"/>
                </a:solidFill>
                <a:latin typeface="Aristotelica Pro"/>
                <a:ea typeface="Aristotelica Pro"/>
                <a:cs typeface="Aristotelica Pro"/>
                <a:sym typeface="Aristotelica Pro"/>
              </a:rPr>
              <a:t>Our entrepreneurial story begins with a creative idea from three tech entrepreneurs. 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4965760" y="4934866"/>
            <a:ext cx="1857646" cy="1337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08"/>
              </a:lnSpc>
            </a:pPr>
            <a:r>
              <a:rPr lang="en-US" sz="1647">
                <a:solidFill>
                  <a:srgbClr val="2A2B39"/>
                </a:solidFill>
                <a:latin typeface="Aristotelica Pro"/>
                <a:ea typeface="Aristotelica Pro"/>
                <a:cs typeface="Aristotelica Pro"/>
                <a:sym typeface="Aristotelica Pro"/>
              </a:rPr>
              <a:t>Stage where we focus on a process of analysis, study of the market and the target audience.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928739" y="2850846"/>
            <a:ext cx="2452659" cy="1026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321"/>
              </a:lnSpc>
            </a:pPr>
            <a:r>
              <a:rPr lang="en-US" sz="5720">
                <a:solidFill>
                  <a:srgbClr val="2A2B39"/>
                </a:solidFill>
                <a:latin typeface="Ballpoint"/>
                <a:ea typeface="Ballpoint"/>
                <a:cs typeface="Ballpoint"/>
                <a:sym typeface="Ballpoint"/>
              </a:rPr>
              <a:t>1990 - 1991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3989734" y="1055771"/>
            <a:ext cx="9514463" cy="10057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305"/>
              </a:lnSpc>
              <a:spcBef>
                <a:spcPct val="0"/>
              </a:spcBef>
            </a:pPr>
            <a:r>
              <a:rPr lang="en-US" sz="6853" spc="342">
                <a:solidFill>
                  <a:srgbClr val="2A2B39"/>
                </a:solidFill>
                <a:latin typeface="Ballpoint"/>
                <a:ea typeface="Ballpoint"/>
                <a:cs typeface="Ballpoint"/>
                <a:sym typeface="Ballpoint"/>
              </a:rPr>
              <a:t>EVENT  </a:t>
            </a:r>
            <a:r>
              <a:rPr lang="en-US" sz="6853" spc="342">
                <a:solidFill>
                  <a:srgbClr val="2A2B39"/>
                </a:solidFill>
                <a:latin typeface="Ballpoint"/>
                <a:ea typeface="Ballpoint"/>
                <a:cs typeface="Ballpoint"/>
                <a:sym typeface="Ballpoint"/>
              </a:rPr>
              <a:t>TIMELINE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8436663" y="3984969"/>
            <a:ext cx="1655027" cy="49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59"/>
              </a:lnSpc>
            </a:pPr>
            <a:r>
              <a:rPr lang="en-US" sz="3093">
                <a:solidFill>
                  <a:srgbClr val="2A2B39"/>
                </a:solidFill>
                <a:latin typeface="Bobby Jones"/>
                <a:ea typeface="Bobby Jones"/>
                <a:cs typeface="Bobby Jones"/>
                <a:sym typeface="Bobby Jones"/>
              </a:rPr>
              <a:t>Covid 19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11358556" y="3919258"/>
            <a:ext cx="2692040" cy="9108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641"/>
              </a:lnSpc>
            </a:pPr>
            <a:r>
              <a:rPr lang="en-US" sz="2844">
                <a:solidFill>
                  <a:srgbClr val="2A2B39"/>
                </a:solidFill>
                <a:latin typeface="Bobby Jones Soft"/>
                <a:ea typeface="Bobby Jones Soft"/>
                <a:cs typeface="Bobby Jones Soft"/>
                <a:sym typeface="Bobby Jones Soft"/>
              </a:rPr>
              <a:t>Russia - Ukriane War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15215850" y="3801207"/>
            <a:ext cx="2218572" cy="99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59"/>
              </a:lnSpc>
            </a:pPr>
            <a:r>
              <a:rPr lang="en-US" sz="3093">
                <a:solidFill>
                  <a:srgbClr val="2A2B39"/>
                </a:solidFill>
                <a:latin typeface="Bobby Jones Soft"/>
                <a:ea typeface="Bobby Jones Soft"/>
                <a:cs typeface="Bobby Jones Soft"/>
                <a:sym typeface="Bobby Jones Soft"/>
              </a:rPr>
              <a:t>Iran - Israel USA WAR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8479581" y="4934866"/>
            <a:ext cx="1857646" cy="1337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08"/>
              </a:lnSpc>
            </a:pPr>
            <a:r>
              <a:rPr lang="en-US" sz="1647">
                <a:solidFill>
                  <a:srgbClr val="2A2B39"/>
                </a:solidFill>
                <a:latin typeface="Aristotelica Pro"/>
                <a:ea typeface="Aristotelica Pro"/>
                <a:cs typeface="Aristotelica Pro"/>
                <a:sym typeface="Aristotelica Pro"/>
              </a:rPr>
              <a:t>Team building and training phase, brainstorming, company objectives, and roadmap.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12025816" y="4934866"/>
            <a:ext cx="1857646" cy="1602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08"/>
              </a:lnSpc>
            </a:pPr>
            <a:r>
              <a:rPr lang="en-US" sz="1647">
                <a:solidFill>
                  <a:srgbClr val="2A2B39"/>
                </a:solidFill>
                <a:latin typeface="Aristotelica Pro"/>
                <a:ea typeface="Aristotelica Pro"/>
                <a:cs typeface="Aristotelica Pro"/>
                <a:sym typeface="Aristotelica Pro"/>
              </a:rPr>
              <a:t>Launch of the first local technology project dedicated to universities and educational centers.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15576776" y="4934866"/>
            <a:ext cx="1857646" cy="1337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08"/>
              </a:lnSpc>
            </a:pPr>
            <a:r>
              <a:rPr lang="en-US" sz="1647">
                <a:solidFill>
                  <a:srgbClr val="2A2B39"/>
                </a:solidFill>
                <a:latin typeface="Aristotelica Pro"/>
                <a:ea typeface="Aristotelica Pro"/>
                <a:cs typeface="Aristotelica Pro"/>
                <a:sym typeface="Aristotelica Pro"/>
              </a:rPr>
              <a:t>Development of a digital solution focused on enhancing creativity in children.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4369928" y="2883579"/>
            <a:ext cx="2734128" cy="980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058"/>
              </a:lnSpc>
            </a:pPr>
            <a:r>
              <a:rPr lang="en-US" sz="5514">
                <a:solidFill>
                  <a:srgbClr val="2A2B39"/>
                </a:solidFill>
                <a:latin typeface="Ballpoint"/>
                <a:ea typeface="Ballpoint"/>
                <a:cs typeface="Ballpoint"/>
                <a:sym typeface="Ballpoint"/>
              </a:rPr>
              <a:t>2007 - 2008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7949820" y="2850846"/>
            <a:ext cx="2452659" cy="1026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321"/>
              </a:lnSpc>
            </a:pPr>
            <a:r>
              <a:rPr lang="en-US" sz="5720">
                <a:solidFill>
                  <a:srgbClr val="2A2B39"/>
                </a:solidFill>
                <a:latin typeface="Ballpoint"/>
                <a:ea typeface="Ballpoint"/>
                <a:cs typeface="Ballpoint"/>
                <a:sym typeface="Ballpoint"/>
              </a:rPr>
              <a:t>2019 - 2021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11120982" y="2869896"/>
            <a:ext cx="3331070" cy="976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056"/>
              </a:lnSpc>
            </a:pPr>
            <a:r>
              <a:rPr lang="en-US" sz="5513">
                <a:solidFill>
                  <a:srgbClr val="2A2B39"/>
                </a:solidFill>
                <a:latin typeface="Ballpoint"/>
                <a:ea typeface="Ballpoint"/>
                <a:cs typeface="Ballpoint"/>
                <a:sym typeface="Ballpoint"/>
              </a:rPr>
              <a:t>Ongoing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14653012" y="2824282"/>
            <a:ext cx="3331070" cy="976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056"/>
              </a:lnSpc>
            </a:pPr>
            <a:r>
              <a:rPr lang="en-US" sz="5513">
                <a:solidFill>
                  <a:srgbClr val="2A2B39"/>
                </a:solidFill>
                <a:latin typeface="Ballpoint"/>
                <a:ea typeface="Ballpoint"/>
                <a:cs typeface="Ballpoint"/>
                <a:sym typeface="Ballpoint"/>
              </a:rPr>
              <a:t>Ongoing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26203" y="1985928"/>
            <a:ext cx="3291548" cy="2153191"/>
            <a:chOff x="0" y="0"/>
            <a:chExt cx="1748688" cy="114391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748688" cy="1143917"/>
            </a:xfrm>
            <a:custGeom>
              <a:avLst/>
              <a:gdLst/>
              <a:ahLst/>
              <a:cxnLst/>
              <a:rect r="r" b="b" t="t" l="l"/>
              <a:pathLst>
                <a:path h="1143917" w="1748688">
                  <a:moveTo>
                    <a:pt x="1545488" y="0"/>
                  </a:moveTo>
                  <a:lnTo>
                    <a:pt x="0" y="0"/>
                  </a:lnTo>
                  <a:lnTo>
                    <a:pt x="0" y="1143917"/>
                  </a:lnTo>
                  <a:lnTo>
                    <a:pt x="1545488" y="1143917"/>
                  </a:lnTo>
                  <a:lnTo>
                    <a:pt x="1748688" y="571959"/>
                  </a:lnTo>
                  <a:lnTo>
                    <a:pt x="1545488" y="0"/>
                  </a:lnTo>
                  <a:close/>
                </a:path>
              </a:pathLst>
            </a:custGeom>
            <a:solidFill>
              <a:srgbClr val="88A5FA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133350"/>
              <a:ext cx="1634388" cy="12772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461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827387" y="1985928"/>
            <a:ext cx="3460464" cy="2153191"/>
            <a:chOff x="0" y="0"/>
            <a:chExt cx="1838427" cy="114391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838427" cy="1143917"/>
            </a:xfrm>
            <a:custGeom>
              <a:avLst/>
              <a:gdLst/>
              <a:ahLst/>
              <a:cxnLst/>
              <a:rect r="r" b="b" t="t" l="l"/>
              <a:pathLst>
                <a:path h="1143917" w="1838427">
                  <a:moveTo>
                    <a:pt x="0" y="0"/>
                  </a:moveTo>
                  <a:lnTo>
                    <a:pt x="1635227" y="0"/>
                  </a:lnTo>
                  <a:lnTo>
                    <a:pt x="1838427" y="571959"/>
                  </a:lnTo>
                  <a:lnTo>
                    <a:pt x="1635227" y="1143917"/>
                  </a:lnTo>
                  <a:lnTo>
                    <a:pt x="0" y="1143917"/>
                  </a:lnTo>
                  <a:lnTo>
                    <a:pt x="203200" y="5719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ECFD6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177800" y="-133350"/>
              <a:ext cx="1584427" cy="12772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461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997487" y="1985928"/>
            <a:ext cx="3460464" cy="2153191"/>
            <a:chOff x="0" y="0"/>
            <a:chExt cx="1838427" cy="114391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838427" cy="1143917"/>
            </a:xfrm>
            <a:custGeom>
              <a:avLst/>
              <a:gdLst/>
              <a:ahLst/>
              <a:cxnLst/>
              <a:rect r="r" b="b" t="t" l="l"/>
              <a:pathLst>
                <a:path h="1143917" w="1838427">
                  <a:moveTo>
                    <a:pt x="0" y="0"/>
                  </a:moveTo>
                  <a:lnTo>
                    <a:pt x="1635227" y="0"/>
                  </a:lnTo>
                  <a:lnTo>
                    <a:pt x="1838427" y="571959"/>
                  </a:lnTo>
                  <a:lnTo>
                    <a:pt x="1635227" y="1143917"/>
                  </a:lnTo>
                  <a:lnTo>
                    <a:pt x="0" y="1143917"/>
                  </a:lnTo>
                  <a:lnTo>
                    <a:pt x="203200" y="5719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D1A9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177800" y="-133350"/>
              <a:ext cx="1584427" cy="12772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461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0167587" y="1985928"/>
            <a:ext cx="3460464" cy="2153191"/>
            <a:chOff x="0" y="0"/>
            <a:chExt cx="1838427" cy="114391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838427" cy="1143917"/>
            </a:xfrm>
            <a:custGeom>
              <a:avLst/>
              <a:gdLst/>
              <a:ahLst/>
              <a:cxnLst/>
              <a:rect r="r" b="b" t="t" l="l"/>
              <a:pathLst>
                <a:path h="1143917" w="1838427">
                  <a:moveTo>
                    <a:pt x="0" y="0"/>
                  </a:moveTo>
                  <a:lnTo>
                    <a:pt x="1635227" y="0"/>
                  </a:lnTo>
                  <a:lnTo>
                    <a:pt x="1838427" y="571959"/>
                  </a:lnTo>
                  <a:lnTo>
                    <a:pt x="1635227" y="1143917"/>
                  </a:lnTo>
                  <a:lnTo>
                    <a:pt x="0" y="1143917"/>
                  </a:lnTo>
                  <a:lnTo>
                    <a:pt x="203200" y="5719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AD175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177800" y="-133350"/>
              <a:ext cx="1584427" cy="12772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461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3337687" y="1985928"/>
            <a:ext cx="3460464" cy="2153191"/>
            <a:chOff x="0" y="0"/>
            <a:chExt cx="1838427" cy="114391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838427" cy="1143917"/>
            </a:xfrm>
            <a:custGeom>
              <a:avLst/>
              <a:gdLst/>
              <a:ahLst/>
              <a:cxnLst/>
              <a:rect r="r" b="b" t="t" l="l"/>
              <a:pathLst>
                <a:path h="1143917" w="1838427">
                  <a:moveTo>
                    <a:pt x="0" y="0"/>
                  </a:moveTo>
                  <a:lnTo>
                    <a:pt x="1635227" y="0"/>
                  </a:lnTo>
                  <a:lnTo>
                    <a:pt x="1838427" y="571959"/>
                  </a:lnTo>
                  <a:lnTo>
                    <a:pt x="1635227" y="1143917"/>
                  </a:lnTo>
                  <a:lnTo>
                    <a:pt x="0" y="1143917"/>
                  </a:lnTo>
                  <a:lnTo>
                    <a:pt x="203200" y="5719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DA68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177800" y="-133350"/>
              <a:ext cx="1584427" cy="12772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461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8100000">
            <a:off x="16591330" y="3279993"/>
            <a:ext cx="1335940" cy="1718251"/>
          </a:xfrm>
          <a:custGeom>
            <a:avLst/>
            <a:gdLst/>
            <a:ahLst/>
            <a:cxnLst/>
            <a:rect r="r" b="b" t="t" l="l"/>
            <a:pathLst>
              <a:path h="1718251" w="1335940">
                <a:moveTo>
                  <a:pt x="0" y="0"/>
                </a:moveTo>
                <a:lnTo>
                  <a:pt x="1335940" y="0"/>
                </a:lnTo>
                <a:lnTo>
                  <a:pt x="1335940" y="1718251"/>
                </a:lnTo>
                <a:lnTo>
                  <a:pt x="0" y="171825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1506544" y="7458060"/>
            <a:ext cx="3291548" cy="2153191"/>
            <a:chOff x="0" y="0"/>
            <a:chExt cx="1748688" cy="1143917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748688" cy="1143917"/>
            </a:xfrm>
            <a:custGeom>
              <a:avLst/>
              <a:gdLst/>
              <a:ahLst/>
              <a:cxnLst/>
              <a:rect r="r" b="b" t="t" l="l"/>
              <a:pathLst>
                <a:path h="1143917" w="1748688">
                  <a:moveTo>
                    <a:pt x="1545488" y="0"/>
                  </a:moveTo>
                  <a:lnTo>
                    <a:pt x="0" y="0"/>
                  </a:lnTo>
                  <a:lnTo>
                    <a:pt x="0" y="1143917"/>
                  </a:lnTo>
                  <a:lnTo>
                    <a:pt x="1545488" y="1143917"/>
                  </a:lnTo>
                  <a:lnTo>
                    <a:pt x="1748688" y="571959"/>
                  </a:lnTo>
                  <a:lnTo>
                    <a:pt x="1545488" y="0"/>
                  </a:lnTo>
                  <a:close/>
                </a:path>
              </a:pathLst>
            </a:custGeom>
            <a:solidFill>
              <a:srgbClr val="88A5FA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133350"/>
              <a:ext cx="1634388" cy="12772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461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4507729" y="7458060"/>
            <a:ext cx="3460464" cy="2153191"/>
            <a:chOff x="0" y="0"/>
            <a:chExt cx="1838427" cy="1143917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838427" cy="1143917"/>
            </a:xfrm>
            <a:custGeom>
              <a:avLst/>
              <a:gdLst/>
              <a:ahLst/>
              <a:cxnLst/>
              <a:rect r="r" b="b" t="t" l="l"/>
              <a:pathLst>
                <a:path h="1143917" w="1838427">
                  <a:moveTo>
                    <a:pt x="0" y="0"/>
                  </a:moveTo>
                  <a:lnTo>
                    <a:pt x="1635227" y="0"/>
                  </a:lnTo>
                  <a:lnTo>
                    <a:pt x="1838427" y="571959"/>
                  </a:lnTo>
                  <a:lnTo>
                    <a:pt x="1635227" y="1143917"/>
                  </a:lnTo>
                  <a:lnTo>
                    <a:pt x="0" y="1143917"/>
                  </a:lnTo>
                  <a:lnTo>
                    <a:pt x="203200" y="5719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ECFD6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177800" y="-133350"/>
              <a:ext cx="1584427" cy="12772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461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7677829" y="7458060"/>
            <a:ext cx="3460464" cy="2153191"/>
            <a:chOff x="0" y="0"/>
            <a:chExt cx="1838427" cy="1143917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838427" cy="1143917"/>
            </a:xfrm>
            <a:custGeom>
              <a:avLst/>
              <a:gdLst/>
              <a:ahLst/>
              <a:cxnLst/>
              <a:rect r="r" b="b" t="t" l="l"/>
              <a:pathLst>
                <a:path h="1143917" w="1838427">
                  <a:moveTo>
                    <a:pt x="0" y="0"/>
                  </a:moveTo>
                  <a:lnTo>
                    <a:pt x="1635227" y="0"/>
                  </a:lnTo>
                  <a:lnTo>
                    <a:pt x="1838427" y="571959"/>
                  </a:lnTo>
                  <a:lnTo>
                    <a:pt x="1635227" y="1143917"/>
                  </a:lnTo>
                  <a:lnTo>
                    <a:pt x="0" y="1143917"/>
                  </a:lnTo>
                  <a:lnTo>
                    <a:pt x="203200" y="5719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D1A9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177800" y="-133350"/>
              <a:ext cx="1584427" cy="12772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461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0847929" y="7458060"/>
            <a:ext cx="3460464" cy="2153191"/>
            <a:chOff x="0" y="0"/>
            <a:chExt cx="1838427" cy="1143917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838427" cy="1143917"/>
            </a:xfrm>
            <a:custGeom>
              <a:avLst/>
              <a:gdLst/>
              <a:ahLst/>
              <a:cxnLst/>
              <a:rect r="r" b="b" t="t" l="l"/>
              <a:pathLst>
                <a:path h="1143917" w="1838427">
                  <a:moveTo>
                    <a:pt x="0" y="0"/>
                  </a:moveTo>
                  <a:lnTo>
                    <a:pt x="1635227" y="0"/>
                  </a:lnTo>
                  <a:lnTo>
                    <a:pt x="1838427" y="571959"/>
                  </a:lnTo>
                  <a:lnTo>
                    <a:pt x="1635227" y="1143917"/>
                  </a:lnTo>
                  <a:lnTo>
                    <a:pt x="0" y="1143917"/>
                  </a:lnTo>
                  <a:lnTo>
                    <a:pt x="203200" y="5719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AD175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177800" y="-133350"/>
              <a:ext cx="1584427" cy="12772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461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4018029" y="7458060"/>
            <a:ext cx="3460464" cy="2153191"/>
            <a:chOff x="0" y="0"/>
            <a:chExt cx="1838427" cy="1143917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838427" cy="1143917"/>
            </a:xfrm>
            <a:custGeom>
              <a:avLst/>
              <a:gdLst/>
              <a:ahLst/>
              <a:cxnLst/>
              <a:rect r="r" b="b" t="t" l="l"/>
              <a:pathLst>
                <a:path h="1143917" w="1838427">
                  <a:moveTo>
                    <a:pt x="0" y="0"/>
                  </a:moveTo>
                  <a:lnTo>
                    <a:pt x="1635227" y="0"/>
                  </a:lnTo>
                  <a:lnTo>
                    <a:pt x="1838427" y="571959"/>
                  </a:lnTo>
                  <a:lnTo>
                    <a:pt x="1635227" y="1143917"/>
                  </a:lnTo>
                  <a:lnTo>
                    <a:pt x="0" y="1143917"/>
                  </a:lnTo>
                  <a:lnTo>
                    <a:pt x="203200" y="5719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DA68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177800" y="-133350"/>
              <a:ext cx="1584427" cy="12772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461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-10800000">
            <a:off x="13625033" y="4758333"/>
            <a:ext cx="3291548" cy="2153191"/>
            <a:chOff x="0" y="0"/>
            <a:chExt cx="1748688" cy="1143917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748688" cy="1143917"/>
            </a:xfrm>
            <a:custGeom>
              <a:avLst/>
              <a:gdLst/>
              <a:ahLst/>
              <a:cxnLst/>
              <a:rect r="r" b="b" t="t" l="l"/>
              <a:pathLst>
                <a:path h="1143917" w="1748688">
                  <a:moveTo>
                    <a:pt x="1545488" y="0"/>
                  </a:moveTo>
                  <a:lnTo>
                    <a:pt x="0" y="0"/>
                  </a:lnTo>
                  <a:lnTo>
                    <a:pt x="0" y="1143917"/>
                  </a:lnTo>
                  <a:lnTo>
                    <a:pt x="1545488" y="1143917"/>
                  </a:lnTo>
                  <a:lnTo>
                    <a:pt x="1748688" y="571959"/>
                  </a:lnTo>
                  <a:lnTo>
                    <a:pt x="1545488" y="0"/>
                  </a:lnTo>
                  <a:close/>
                </a:path>
              </a:pathLst>
            </a:custGeom>
            <a:solidFill>
              <a:srgbClr val="88A5FA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6" id="36"/>
            <p:cNvSpPr txBox="true"/>
            <p:nvPr/>
          </p:nvSpPr>
          <p:spPr>
            <a:xfrm>
              <a:off x="0" y="-133350"/>
              <a:ext cx="1634388" cy="12772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461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7" id="37"/>
          <p:cNvGrpSpPr/>
          <p:nvPr/>
        </p:nvGrpSpPr>
        <p:grpSpPr>
          <a:xfrm rot="-10800000">
            <a:off x="10454933" y="4758333"/>
            <a:ext cx="3460464" cy="2153191"/>
            <a:chOff x="0" y="0"/>
            <a:chExt cx="1838427" cy="1143917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838427" cy="1143917"/>
            </a:xfrm>
            <a:custGeom>
              <a:avLst/>
              <a:gdLst/>
              <a:ahLst/>
              <a:cxnLst/>
              <a:rect r="r" b="b" t="t" l="l"/>
              <a:pathLst>
                <a:path h="1143917" w="1838427">
                  <a:moveTo>
                    <a:pt x="0" y="0"/>
                  </a:moveTo>
                  <a:lnTo>
                    <a:pt x="1635227" y="0"/>
                  </a:lnTo>
                  <a:lnTo>
                    <a:pt x="1838427" y="571959"/>
                  </a:lnTo>
                  <a:lnTo>
                    <a:pt x="1635227" y="1143917"/>
                  </a:lnTo>
                  <a:lnTo>
                    <a:pt x="0" y="1143917"/>
                  </a:lnTo>
                  <a:lnTo>
                    <a:pt x="203200" y="5719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ECFD6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9" id="39"/>
            <p:cNvSpPr txBox="true"/>
            <p:nvPr/>
          </p:nvSpPr>
          <p:spPr>
            <a:xfrm>
              <a:off x="177800" y="-133350"/>
              <a:ext cx="1584427" cy="12772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461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40" id="40"/>
          <p:cNvGrpSpPr/>
          <p:nvPr/>
        </p:nvGrpSpPr>
        <p:grpSpPr>
          <a:xfrm rot="-10800000">
            <a:off x="7284833" y="4758333"/>
            <a:ext cx="3460464" cy="2153191"/>
            <a:chOff x="0" y="0"/>
            <a:chExt cx="1838427" cy="1143917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838427" cy="1143917"/>
            </a:xfrm>
            <a:custGeom>
              <a:avLst/>
              <a:gdLst/>
              <a:ahLst/>
              <a:cxnLst/>
              <a:rect r="r" b="b" t="t" l="l"/>
              <a:pathLst>
                <a:path h="1143917" w="1838427">
                  <a:moveTo>
                    <a:pt x="0" y="0"/>
                  </a:moveTo>
                  <a:lnTo>
                    <a:pt x="1635227" y="0"/>
                  </a:lnTo>
                  <a:lnTo>
                    <a:pt x="1838427" y="571959"/>
                  </a:lnTo>
                  <a:lnTo>
                    <a:pt x="1635227" y="1143917"/>
                  </a:lnTo>
                  <a:lnTo>
                    <a:pt x="0" y="1143917"/>
                  </a:lnTo>
                  <a:lnTo>
                    <a:pt x="203200" y="5719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D1A9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2" id="42"/>
            <p:cNvSpPr txBox="true"/>
            <p:nvPr/>
          </p:nvSpPr>
          <p:spPr>
            <a:xfrm>
              <a:off x="177800" y="-133350"/>
              <a:ext cx="1584427" cy="12772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461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43" id="43"/>
          <p:cNvGrpSpPr/>
          <p:nvPr/>
        </p:nvGrpSpPr>
        <p:grpSpPr>
          <a:xfrm rot="-10800000">
            <a:off x="4114733" y="4758333"/>
            <a:ext cx="3460464" cy="2153191"/>
            <a:chOff x="0" y="0"/>
            <a:chExt cx="1838427" cy="1143917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838427" cy="1143917"/>
            </a:xfrm>
            <a:custGeom>
              <a:avLst/>
              <a:gdLst/>
              <a:ahLst/>
              <a:cxnLst/>
              <a:rect r="r" b="b" t="t" l="l"/>
              <a:pathLst>
                <a:path h="1143917" w="1838427">
                  <a:moveTo>
                    <a:pt x="0" y="0"/>
                  </a:moveTo>
                  <a:lnTo>
                    <a:pt x="1635227" y="0"/>
                  </a:lnTo>
                  <a:lnTo>
                    <a:pt x="1838427" y="571959"/>
                  </a:lnTo>
                  <a:lnTo>
                    <a:pt x="1635227" y="1143917"/>
                  </a:lnTo>
                  <a:lnTo>
                    <a:pt x="0" y="1143917"/>
                  </a:lnTo>
                  <a:lnTo>
                    <a:pt x="203200" y="5719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AD175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5" id="45"/>
            <p:cNvSpPr txBox="true"/>
            <p:nvPr/>
          </p:nvSpPr>
          <p:spPr>
            <a:xfrm>
              <a:off x="177800" y="-133350"/>
              <a:ext cx="1584427" cy="12772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461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46" id="46"/>
          <p:cNvGrpSpPr/>
          <p:nvPr/>
        </p:nvGrpSpPr>
        <p:grpSpPr>
          <a:xfrm rot="-10800000">
            <a:off x="944633" y="4758333"/>
            <a:ext cx="3460464" cy="2153191"/>
            <a:chOff x="0" y="0"/>
            <a:chExt cx="1838427" cy="1143917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838427" cy="1143917"/>
            </a:xfrm>
            <a:custGeom>
              <a:avLst/>
              <a:gdLst/>
              <a:ahLst/>
              <a:cxnLst/>
              <a:rect r="r" b="b" t="t" l="l"/>
              <a:pathLst>
                <a:path h="1143917" w="1838427">
                  <a:moveTo>
                    <a:pt x="0" y="0"/>
                  </a:moveTo>
                  <a:lnTo>
                    <a:pt x="1635227" y="0"/>
                  </a:lnTo>
                  <a:lnTo>
                    <a:pt x="1838427" y="571959"/>
                  </a:lnTo>
                  <a:lnTo>
                    <a:pt x="1635227" y="1143917"/>
                  </a:lnTo>
                  <a:lnTo>
                    <a:pt x="0" y="1143917"/>
                  </a:lnTo>
                  <a:lnTo>
                    <a:pt x="203200" y="5719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DA68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8" id="48"/>
            <p:cNvSpPr txBox="true"/>
            <p:nvPr/>
          </p:nvSpPr>
          <p:spPr>
            <a:xfrm>
              <a:off x="177800" y="-133350"/>
              <a:ext cx="1584427" cy="12772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461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49" id="49"/>
          <p:cNvSpPr/>
          <p:nvPr/>
        </p:nvSpPr>
        <p:spPr>
          <a:xfrm flipH="false" flipV="true" rot="1515559">
            <a:off x="158233" y="6052398"/>
            <a:ext cx="1335940" cy="1718251"/>
          </a:xfrm>
          <a:custGeom>
            <a:avLst/>
            <a:gdLst/>
            <a:ahLst/>
            <a:cxnLst/>
            <a:rect r="r" b="b" t="t" l="l"/>
            <a:pathLst>
              <a:path h="1718251" w="1335940">
                <a:moveTo>
                  <a:pt x="0" y="1718251"/>
                </a:moveTo>
                <a:lnTo>
                  <a:pt x="1335940" y="1718251"/>
                </a:lnTo>
                <a:lnTo>
                  <a:pt x="1335940" y="0"/>
                </a:lnTo>
                <a:lnTo>
                  <a:pt x="0" y="0"/>
                </a:lnTo>
                <a:lnTo>
                  <a:pt x="0" y="1718251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0" id="50"/>
          <p:cNvSpPr/>
          <p:nvPr/>
        </p:nvSpPr>
        <p:spPr>
          <a:xfrm flipH="false" flipV="false" rot="0">
            <a:off x="13788310" y="5669694"/>
            <a:ext cx="3070819" cy="382016"/>
          </a:xfrm>
          <a:custGeom>
            <a:avLst/>
            <a:gdLst/>
            <a:ahLst/>
            <a:cxnLst/>
            <a:rect r="r" b="b" t="t" l="l"/>
            <a:pathLst>
              <a:path h="382016" w="3070819">
                <a:moveTo>
                  <a:pt x="0" y="0"/>
                </a:moveTo>
                <a:lnTo>
                  <a:pt x="3070819" y="0"/>
                </a:lnTo>
                <a:lnTo>
                  <a:pt x="3070819" y="382016"/>
                </a:lnTo>
                <a:lnTo>
                  <a:pt x="0" y="38201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6473" b="0"/>
            </a:stretch>
          </a:blipFill>
        </p:spPr>
      </p:sp>
      <p:sp>
        <p:nvSpPr>
          <p:cNvPr name="TextBox 51" id="51"/>
          <p:cNvSpPr txBox="true"/>
          <p:nvPr/>
        </p:nvSpPr>
        <p:spPr>
          <a:xfrm rot="0">
            <a:off x="5507079" y="360996"/>
            <a:ext cx="7491681" cy="10057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305"/>
              </a:lnSpc>
              <a:spcBef>
                <a:spcPct val="0"/>
              </a:spcBef>
            </a:pPr>
            <a:r>
              <a:rPr lang="en-US" sz="6853" spc="342">
                <a:solidFill>
                  <a:srgbClr val="2A2B39"/>
                </a:solidFill>
                <a:latin typeface="Ballpoint"/>
                <a:ea typeface="Ballpoint"/>
                <a:cs typeface="Ballpoint"/>
                <a:sym typeface="Ballpoint"/>
              </a:rPr>
              <a:t>ECONOMETRIC</a:t>
            </a:r>
            <a:r>
              <a:rPr lang="en-US" sz="6853" spc="342">
                <a:solidFill>
                  <a:srgbClr val="2A2B39"/>
                </a:solidFill>
                <a:latin typeface="Ballpoint"/>
                <a:ea typeface="Ballpoint"/>
                <a:cs typeface="Ballpoint"/>
                <a:sym typeface="Ballpoint"/>
              </a:rPr>
              <a:t> WORKFLOW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944633" y="2144959"/>
            <a:ext cx="2863313" cy="790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sz="3000" b="true">
                <a:solidFill>
                  <a:srgbClr val="000000"/>
                </a:solidFill>
                <a:latin typeface="Lato Heavy"/>
                <a:ea typeface="Lato Heavy"/>
                <a:cs typeface="Lato Heavy"/>
                <a:sym typeface="Lato Heavy"/>
              </a:rPr>
              <a:t>Da</a:t>
            </a:r>
            <a:r>
              <a:rPr lang="en-US" b="true" sz="3000">
                <a:solidFill>
                  <a:srgbClr val="000000"/>
                </a:solidFill>
                <a:latin typeface="Lato Heavy"/>
                <a:ea typeface="Lato Heavy"/>
                <a:cs typeface="Lato Heavy"/>
                <a:sym typeface="Lato Heavy"/>
              </a:rPr>
              <a:t>ta Preparation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028700" y="3033948"/>
            <a:ext cx="2611251" cy="12580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9"/>
              </a:lnSpc>
            </a:pPr>
            <a:r>
              <a:rPr lang="en-US" sz="180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Han</a:t>
            </a:r>
            <a:r>
              <a:rPr lang="en-US" sz="180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dle missing values   </a:t>
            </a:r>
          </a:p>
          <a:p>
            <a:pPr algn="l">
              <a:lnSpc>
                <a:spcPts val="2529"/>
              </a:lnSpc>
            </a:pPr>
            <a:r>
              <a:rPr lang="en-US" sz="180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Create log returns</a:t>
            </a:r>
          </a:p>
          <a:p>
            <a:pPr algn="ctr">
              <a:lnSpc>
                <a:spcPts val="2529"/>
              </a:lnSpc>
            </a:pPr>
            <a:r>
              <a:rPr lang="en-US" sz="180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Create event dummies </a:t>
            </a:r>
          </a:p>
          <a:p>
            <a:pPr algn="l">
              <a:lnSpc>
                <a:spcPts val="2529"/>
              </a:lnSpc>
            </a:pPr>
          </a:p>
        </p:txBody>
      </p:sp>
      <p:sp>
        <p:nvSpPr>
          <p:cNvPr name="TextBox 54" id="54"/>
          <p:cNvSpPr txBox="true"/>
          <p:nvPr/>
        </p:nvSpPr>
        <p:spPr>
          <a:xfrm rot="0">
            <a:off x="3980781" y="2173666"/>
            <a:ext cx="3153677" cy="7618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4"/>
              </a:lnSpc>
            </a:pPr>
            <a:r>
              <a:rPr lang="en-US" sz="2994" b="true">
                <a:solidFill>
                  <a:srgbClr val="000000"/>
                </a:solidFill>
                <a:latin typeface="Lato Heavy"/>
                <a:ea typeface="Lato Heavy"/>
                <a:cs typeface="Lato Heavy"/>
                <a:sym typeface="Lato Heavy"/>
              </a:rPr>
              <a:t> Descrip</a:t>
            </a:r>
            <a:r>
              <a:rPr lang="en-US" b="true" sz="2994">
                <a:solidFill>
                  <a:srgbClr val="000000"/>
                </a:solidFill>
                <a:latin typeface="Lato Heavy"/>
                <a:ea typeface="Lato Heavy"/>
                <a:cs typeface="Lato Heavy"/>
                <a:sym typeface="Lato Heavy"/>
              </a:rPr>
              <a:t>tive Statistics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4507729" y="3339410"/>
            <a:ext cx="1936605" cy="621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5"/>
              </a:lnSpc>
            </a:pPr>
            <a:r>
              <a:rPr lang="en-US" sz="182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Tim</a:t>
            </a:r>
            <a:r>
              <a:rPr lang="en-US" sz="182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 series plots </a:t>
            </a:r>
          </a:p>
          <a:p>
            <a:pPr algn="l">
              <a:lnSpc>
                <a:spcPts val="2555"/>
              </a:lnSpc>
            </a:pPr>
          </a:p>
        </p:txBody>
      </p:sp>
      <p:sp>
        <p:nvSpPr>
          <p:cNvPr name="TextBox 56" id="56"/>
          <p:cNvSpPr txBox="true"/>
          <p:nvPr/>
        </p:nvSpPr>
        <p:spPr>
          <a:xfrm rot="0">
            <a:off x="7517047" y="3202937"/>
            <a:ext cx="2421344" cy="620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9"/>
              </a:lnSpc>
            </a:pPr>
            <a:r>
              <a:rPr lang="en-US" sz="180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</a:t>
            </a:r>
            <a:r>
              <a:rPr lang="en-US" sz="180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earson cor</a:t>
            </a:r>
            <a:r>
              <a:rPr lang="en-US" sz="180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relation</a:t>
            </a:r>
          </a:p>
          <a:p>
            <a:pPr algn="l">
              <a:lnSpc>
                <a:spcPts val="2529"/>
              </a:lnSpc>
            </a:pPr>
            <a:r>
              <a:rPr lang="en-US" sz="180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matrix of all variables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0763373" y="3021051"/>
            <a:ext cx="1749332" cy="12580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9"/>
              </a:lnSpc>
            </a:pPr>
            <a:r>
              <a:rPr lang="en-US" sz="180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ADF</a:t>
            </a:r>
          </a:p>
          <a:p>
            <a:pPr algn="l">
              <a:lnSpc>
                <a:spcPts val="2529"/>
              </a:lnSpc>
            </a:pPr>
            <a:r>
              <a:rPr lang="en-US" sz="180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Phillips-Per</a:t>
            </a:r>
            <a:r>
              <a:rPr lang="en-US" sz="180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ron </a:t>
            </a:r>
          </a:p>
          <a:p>
            <a:pPr algn="l">
              <a:lnSpc>
                <a:spcPts val="2529"/>
              </a:lnSpc>
            </a:pPr>
            <a:r>
              <a:rPr lang="en-US" sz="180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KPSS</a:t>
            </a:r>
          </a:p>
          <a:p>
            <a:pPr algn="l">
              <a:lnSpc>
                <a:spcPts val="2529"/>
              </a:lnSpc>
            </a:pPr>
          </a:p>
        </p:txBody>
      </p:sp>
      <p:sp>
        <p:nvSpPr>
          <p:cNvPr name="TextBox 58" id="58"/>
          <p:cNvSpPr txBox="true"/>
          <p:nvPr/>
        </p:nvSpPr>
        <p:spPr>
          <a:xfrm rot="0">
            <a:off x="13915397" y="3202937"/>
            <a:ext cx="2495675" cy="620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9"/>
              </a:lnSpc>
            </a:pPr>
            <a:r>
              <a:rPr lang="en-US" sz="180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Bai–P</a:t>
            </a:r>
            <a:r>
              <a:rPr lang="en-US" sz="180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erron</a:t>
            </a:r>
          </a:p>
          <a:p>
            <a:pPr algn="l">
              <a:lnSpc>
                <a:spcPts val="2529"/>
              </a:lnSpc>
            </a:pPr>
            <a:r>
              <a:rPr lang="en-US" sz="180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(multiple breakpoi</a:t>
            </a:r>
            <a:r>
              <a:rPr lang="en-US" sz="180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nts)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7134457" y="2173666"/>
            <a:ext cx="3153677" cy="7618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4"/>
              </a:lnSpc>
            </a:pPr>
            <a:r>
              <a:rPr lang="en-US" sz="2994" b="true">
                <a:solidFill>
                  <a:srgbClr val="000000"/>
                </a:solidFill>
                <a:latin typeface="Lato Heavy"/>
                <a:ea typeface="Lato Heavy"/>
                <a:cs typeface="Lato Heavy"/>
                <a:sym typeface="Lato Heavy"/>
              </a:rPr>
              <a:t>Correla</a:t>
            </a:r>
            <a:r>
              <a:rPr lang="en-US" b="true" sz="2994">
                <a:solidFill>
                  <a:srgbClr val="000000"/>
                </a:solidFill>
                <a:latin typeface="Lato Heavy"/>
                <a:ea typeface="Lato Heavy"/>
                <a:cs typeface="Lato Heavy"/>
                <a:sym typeface="Lato Heavy"/>
              </a:rPr>
              <a:t>tion Analysis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10288134" y="2173666"/>
            <a:ext cx="3153677" cy="7618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4"/>
              </a:lnSpc>
            </a:pPr>
            <a:r>
              <a:rPr lang="en-US" b="true" sz="2994">
                <a:solidFill>
                  <a:srgbClr val="000000"/>
                </a:solidFill>
                <a:latin typeface="Lato Heavy"/>
                <a:ea typeface="Lato Heavy"/>
                <a:cs typeface="Lato Heavy"/>
                <a:sym typeface="Lato Heavy"/>
              </a:rPr>
              <a:t>Stationarity </a:t>
            </a:r>
          </a:p>
          <a:p>
            <a:pPr algn="ctr">
              <a:lnSpc>
                <a:spcPts val="2994"/>
              </a:lnSpc>
            </a:pPr>
            <a:r>
              <a:rPr lang="en-US" b="true" sz="2994">
                <a:solidFill>
                  <a:srgbClr val="000000"/>
                </a:solidFill>
                <a:latin typeface="Lato Heavy"/>
                <a:ea typeface="Lato Heavy"/>
                <a:cs typeface="Lato Heavy"/>
                <a:sym typeface="Lato Heavy"/>
              </a:rPr>
              <a:t>Test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13441811" y="2173666"/>
            <a:ext cx="3153677" cy="7618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4"/>
              </a:lnSpc>
            </a:pPr>
            <a:r>
              <a:rPr lang="en-US" sz="2994" b="true">
                <a:solidFill>
                  <a:srgbClr val="000000"/>
                </a:solidFill>
                <a:latin typeface="Lato Heavy"/>
                <a:ea typeface="Lato Heavy"/>
                <a:cs typeface="Lato Heavy"/>
                <a:sym typeface="Lato Heavy"/>
              </a:rPr>
              <a:t>Struc</a:t>
            </a:r>
            <a:r>
              <a:rPr lang="en-US" b="true" sz="2994">
                <a:solidFill>
                  <a:srgbClr val="000000"/>
                </a:solidFill>
                <a:latin typeface="Lato Heavy"/>
                <a:ea typeface="Lato Heavy"/>
                <a:cs typeface="Lato Heavy"/>
                <a:sym typeface="Lato Heavy"/>
              </a:rPr>
              <a:t>tural Break Test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13846983" y="4976878"/>
            <a:ext cx="3153677" cy="3903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4"/>
              </a:lnSpc>
            </a:pPr>
            <a:r>
              <a:rPr lang="en-US" sz="2994" b="true">
                <a:solidFill>
                  <a:srgbClr val="000000"/>
                </a:solidFill>
                <a:latin typeface="Lato Heavy"/>
                <a:ea typeface="Lato Heavy"/>
                <a:cs typeface="Lato Heavy"/>
                <a:sym typeface="Lato Heavy"/>
              </a:rPr>
              <a:t>OLS</a:t>
            </a:r>
            <a:r>
              <a:rPr lang="en-US" b="true" sz="2994">
                <a:solidFill>
                  <a:srgbClr val="000000"/>
                </a:solidFill>
                <a:latin typeface="Lato Heavy"/>
                <a:ea typeface="Lato Heavy"/>
                <a:cs typeface="Lato Heavy"/>
                <a:sym typeface="Lato Heavy"/>
              </a:rPr>
              <a:t> Regression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10712284" y="5832127"/>
            <a:ext cx="2912749" cy="620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9"/>
              </a:lnSpc>
            </a:pPr>
            <a:r>
              <a:rPr lang="en-US" sz="180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                VIF</a:t>
            </a:r>
          </a:p>
          <a:p>
            <a:pPr algn="l">
              <a:lnSpc>
                <a:spcPts val="2529"/>
              </a:lnSpc>
            </a:pPr>
            <a:r>
              <a:rPr lang="en-US" sz="180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(Varianc</a:t>
            </a:r>
            <a:r>
              <a:rPr lang="en-US" sz="180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 Inflation</a:t>
            </a:r>
            <a:r>
              <a:rPr lang="en-US" sz="180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Factor)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7708547" y="5679470"/>
            <a:ext cx="2455188" cy="925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9"/>
              </a:lnSpc>
            </a:pPr>
            <a:r>
              <a:rPr lang="en-US" sz="180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White test</a:t>
            </a:r>
          </a:p>
          <a:p>
            <a:pPr algn="l">
              <a:lnSpc>
                <a:spcPts val="2529"/>
              </a:lnSpc>
            </a:pPr>
            <a:r>
              <a:rPr lang="en-US" sz="180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Breusch–Pagan test</a:t>
            </a:r>
          </a:p>
          <a:p>
            <a:pPr algn="l">
              <a:lnSpc>
                <a:spcPts val="2529"/>
              </a:lnSpc>
            </a:pPr>
            <a:r>
              <a:rPr lang="en-US" sz="180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Use robust std. errors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4511048" y="5679470"/>
            <a:ext cx="2486439" cy="12580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9"/>
              </a:lnSpc>
            </a:pPr>
            <a:r>
              <a:rPr lang="en-US" sz="180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Durbin–Watson (DW) </a:t>
            </a:r>
          </a:p>
          <a:p>
            <a:pPr algn="l">
              <a:lnSpc>
                <a:spcPts val="2529"/>
              </a:lnSpc>
            </a:pPr>
            <a:r>
              <a:rPr lang="en-US" sz="180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Breusch–Godfrey test </a:t>
            </a:r>
          </a:p>
          <a:p>
            <a:pPr algn="l">
              <a:lnSpc>
                <a:spcPts val="2529"/>
              </a:lnSpc>
            </a:pPr>
            <a:r>
              <a:rPr lang="en-US" sz="180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(</a:t>
            </a:r>
            <a:r>
              <a:rPr lang="en-US" sz="180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BG)</a:t>
            </a:r>
          </a:p>
          <a:p>
            <a:pPr algn="l">
              <a:lnSpc>
                <a:spcPts val="2529"/>
              </a:lnSpc>
            </a:pPr>
          </a:p>
        </p:txBody>
      </p:sp>
      <p:sp>
        <p:nvSpPr>
          <p:cNvPr name="TextBox 66" id="66"/>
          <p:cNvSpPr txBox="true"/>
          <p:nvPr/>
        </p:nvSpPr>
        <p:spPr>
          <a:xfrm rot="0">
            <a:off x="1316130" y="5841139"/>
            <a:ext cx="3088966" cy="611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9"/>
              </a:lnSpc>
            </a:pPr>
            <a:r>
              <a:rPr lang="en-US" sz="180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For </a:t>
            </a:r>
            <a:r>
              <a:rPr lang="en-US" sz="180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volatility </a:t>
            </a:r>
            <a:r>
              <a:rPr lang="en-US" sz="180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clus</a:t>
            </a:r>
            <a:r>
              <a:rPr lang="en-US" sz="180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tering</a:t>
            </a:r>
          </a:p>
          <a:p>
            <a:pPr algn="l">
              <a:lnSpc>
                <a:spcPts val="2529"/>
              </a:lnSpc>
            </a:pPr>
            <a:r>
              <a:rPr lang="en-US" sz="180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ARCH LM test 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10745297" y="4907825"/>
            <a:ext cx="3153677" cy="7618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4"/>
              </a:lnSpc>
            </a:pPr>
            <a:r>
              <a:rPr lang="en-US" sz="2994" b="true">
                <a:solidFill>
                  <a:srgbClr val="000000"/>
                </a:solidFill>
                <a:latin typeface="Lato Heavy"/>
                <a:ea typeface="Lato Heavy"/>
                <a:cs typeface="Lato Heavy"/>
                <a:sym typeface="Lato Heavy"/>
              </a:rPr>
              <a:t>Multicollin</a:t>
            </a:r>
            <a:r>
              <a:rPr lang="en-US" b="true" sz="2994">
                <a:solidFill>
                  <a:srgbClr val="000000"/>
                </a:solidFill>
                <a:latin typeface="Lato Heavy"/>
                <a:ea typeface="Lato Heavy"/>
                <a:cs typeface="Lato Heavy"/>
                <a:sym typeface="Lato Heavy"/>
              </a:rPr>
              <a:t>earity Test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7677829" y="4967353"/>
            <a:ext cx="2846927" cy="661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91"/>
              </a:lnSpc>
            </a:pPr>
            <a:r>
              <a:rPr lang="en-US" sz="2591" b="true">
                <a:solidFill>
                  <a:srgbClr val="000000"/>
                </a:solidFill>
                <a:latin typeface="Lato Heavy"/>
                <a:ea typeface="Lato Heavy"/>
                <a:cs typeface="Lato Heavy"/>
                <a:sym typeface="Lato Heavy"/>
              </a:rPr>
              <a:t>H</a:t>
            </a:r>
            <a:r>
              <a:rPr lang="en-US" b="true" sz="2591">
                <a:solidFill>
                  <a:srgbClr val="000000"/>
                </a:solidFill>
                <a:latin typeface="Lato Heavy"/>
                <a:ea typeface="Lato Heavy"/>
                <a:cs typeface="Lato Heavy"/>
                <a:sym typeface="Lato Heavy"/>
              </a:rPr>
              <a:t>eteroskedasticity Test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4236516" y="4907825"/>
            <a:ext cx="3153677" cy="7618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4"/>
              </a:lnSpc>
            </a:pPr>
            <a:r>
              <a:rPr lang="en-US" b="true" sz="2994">
                <a:solidFill>
                  <a:srgbClr val="000000"/>
                </a:solidFill>
                <a:latin typeface="Lato Heavy"/>
                <a:ea typeface="Lato Heavy"/>
                <a:cs typeface="Lato Heavy"/>
                <a:sym typeface="Lato Heavy"/>
              </a:rPr>
              <a:t> Autocorrelation Test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1098919" y="4946177"/>
            <a:ext cx="3153677" cy="7618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4"/>
              </a:lnSpc>
            </a:pPr>
            <a:r>
              <a:rPr lang="en-US" sz="2994" b="true">
                <a:solidFill>
                  <a:srgbClr val="000000"/>
                </a:solidFill>
                <a:latin typeface="Lato Heavy"/>
                <a:ea typeface="Lato Heavy"/>
                <a:cs typeface="Lato Heavy"/>
                <a:sym typeface="Lato Heavy"/>
              </a:rPr>
              <a:t>ARCH</a:t>
            </a:r>
            <a:r>
              <a:rPr lang="en-US" b="true" sz="2994">
                <a:solidFill>
                  <a:srgbClr val="000000"/>
                </a:solidFill>
                <a:latin typeface="Lato Heavy"/>
                <a:ea typeface="Lato Heavy"/>
                <a:cs typeface="Lato Heavy"/>
                <a:sym typeface="Lato Heavy"/>
              </a:rPr>
              <a:t> Effect </a:t>
            </a:r>
          </a:p>
          <a:p>
            <a:pPr algn="ctr">
              <a:lnSpc>
                <a:spcPts val="2994"/>
              </a:lnSpc>
            </a:pPr>
            <a:r>
              <a:rPr lang="en-US" b="true" sz="2994">
                <a:solidFill>
                  <a:srgbClr val="000000"/>
                </a:solidFill>
                <a:latin typeface="Lato Heavy"/>
                <a:ea typeface="Lato Heavy"/>
                <a:cs typeface="Lato Heavy"/>
                <a:sym typeface="Lato Heavy"/>
              </a:rPr>
              <a:t>Test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1488395" y="7709010"/>
            <a:ext cx="3153677" cy="3903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4"/>
              </a:lnSpc>
            </a:pPr>
            <a:r>
              <a:rPr lang="en-US" sz="2994" b="true">
                <a:solidFill>
                  <a:srgbClr val="000000"/>
                </a:solidFill>
                <a:latin typeface="Lato Heavy"/>
                <a:ea typeface="Lato Heavy"/>
                <a:cs typeface="Lato Heavy"/>
                <a:sym typeface="Lato Heavy"/>
              </a:rPr>
              <a:t>GARCH</a:t>
            </a:r>
            <a:r>
              <a:rPr lang="en-US" b="true" sz="2994">
                <a:solidFill>
                  <a:srgbClr val="000000"/>
                </a:solidFill>
                <a:latin typeface="Lato Heavy"/>
                <a:ea typeface="Lato Heavy"/>
                <a:cs typeface="Lato Heavy"/>
                <a:sym typeface="Lato Heavy"/>
              </a:rPr>
              <a:t> Model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4729950" y="7683049"/>
            <a:ext cx="3153677" cy="18261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94"/>
              </a:lnSpc>
            </a:pPr>
            <a:r>
              <a:rPr lang="en-US" sz="2894" b="true">
                <a:solidFill>
                  <a:srgbClr val="000000"/>
                </a:solidFill>
                <a:latin typeface="Lato Heavy"/>
                <a:ea typeface="Lato Heavy"/>
                <a:cs typeface="Lato Heavy"/>
                <a:sym typeface="Lato Heavy"/>
              </a:rPr>
              <a:t>Model Comparision    GJR-GA</a:t>
            </a:r>
            <a:r>
              <a:rPr lang="en-US" b="true" sz="2894">
                <a:solidFill>
                  <a:srgbClr val="000000"/>
                </a:solidFill>
                <a:latin typeface="Lato Heavy"/>
                <a:ea typeface="Lato Heavy"/>
                <a:cs typeface="Lato Heavy"/>
                <a:sym typeface="Lato Heavy"/>
              </a:rPr>
              <a:t>RCH &amp; EGARCH</a:t>
            </a:r>
          </a:p>
          <a:p>
            <a:pPr algn="ctr">
              <a:lnSpc>
                <a:spcPts val="2894"/>
              </a:lnSpc>
            </a:pPr>
          </a:p>
        </p:txBody>
      </p:sp>
      <p:sp>
        <p:nvSpPr>
          <p:cNvPr name="TextBox 73" id="73"/>
          <p:cNvSpPr txBox="true"/>
          <p:nvPr/>
        </p:nvSpPr>
        <p:spPr>
          <a:xfrm rot="0">
            <a:off x="7883627" y="7619261"/>
            <a:ext cx="3153677" cy="15048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4"/>
              </a:lnSpc>
            </a:pPr>
            <a:r>
              <a:rPr lang="en-US" sz="2994" b="true">
                <a:solidFill>
                  <a:srgbClr val="000000"/>
                </a:solidFill>
                <a:latin typeface="Lato Heavy"/>
                <a:ea typeface="Lato Heavy"/>
                <a:cs typeface="Lato Heavy"/>
                <a:sym typeface="Lato Heavy"/>
              </a:rPr>
              <a:t>GARCH(1,1) Residual Diagnos</a:t>
            </a:r>
            <a:r>
              <a:rPr lang="en-US" b="true" sz="2994">
                <a:solidFill>
                  <a:srgbClr val="000000"/>
                </a:solidFill>
                <a:latin typeface="Lato Heavy"/>
                <a:ea typeface="Lato Heavy"/>
                <a:cs typeface="Lato Heavy"/>
                <a:sym typeface="Lato Heavy"/>
              </a:rPr>
              <a:t>tics</a:t>
            </a:r>
          </a:p>
          <a:p>
            <a:pPr algn="ctr">
              <a:lnSpc>
                <a:spcPts val="2994"/>
              </a:lnSpc>
            </a:pPr>
            <a:r>
              <a:rPr lang="en-US" b="true" sz="2994">
                <a:solidFill>
                  <a:srgbClr val="000000"/>
                </a:solidFill>
                <a:latin typeface="Lato Heavy"/>
                <a:ea typeface="Lato Heavy"/>
                <a:cs typeface="Lato Heavy"/>
                <a:sym typeface="Lato Heavy"/>
              </a:rPr>
              <a:t> 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11017746" y="7592421"/>
            <a:ext cx="3153677" cy="11333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4"/>
              </a:lnSpc>
            </a:pPr>
            <a:r>
              <a:rPr lang="en-US" sz="2994" b="true">
                <a:solidFill>
                  <a:srgbClr val="000000"/>
                </a:solidFill>
                <a:latin typeface="Lato Heavy"/>
                <a:ea typeface="Lato Heavy"/>
                <a:cs typeface="Lato Heavy"/>
                <a:sym typeface="Lato Heavy"/>
              </a:rPr>
              <a:t>VAR</a:t>
            </a:r>
            <a:r>
              <a:rPr lang="en-US" b="true" sz="2994">
                <a:solidFill>
                  <a:srgbClr val="000000"/>
                </a:solidFill>
                <a:latin typeface="Lato Heavy"/>
                <a:ea typeface="Lato Heavy"/>
                <a:cs typeface="Lato Heavy"/>
                <a:sym typeface="Lato Heavy"/>
              </a:rPr>
              <a:t> Model (Dynamic Interaction)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14346493" y="7497311"/>
            <a:ext cx="3153677" cy="11333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4"/>
              </a:lnSpc>
            </a:pPr>
            <a:r>
              <a:rPr lang="en-US" b="true" sz="2994">
                <a:solidFill>
                  <a:srgbClr val="000000"/>
                </a:solidFill>
                <a:latin typeface="Lato Heavy"/>
                <a:ea typeface="Lato Heavy"/>
                <a:cs typeface="Lato Heavy"/>
                <a:sym typeface="Lato Heavy"/>
              </a:rPr>
              <a:t> Impulse Response Function (IRF)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1712312" y="8270853"/>
            <a:ext cx="3088966" cy="1239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9"/>
              </a:lnSpc>
            </a:pPr>
            <a:r>
              <a:rPr lang="en-US" sz="180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Model time-varying </a:t>
            </a:r>
            <a:r>
              <a:rPr lang="en-US" sz="180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volatility</a:t>
            </a:r>
          </a:p>
          <a:p>
            <a:pPr algn="l">
              <a:lnSpc>
                <a:spcPts val="2529"/>
              </a:lnSpc>
            </a:pPr>
            <a:r>
              <a:rPr lang="en-US" sz="180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GARCH(1,1) with Ljung </a:t>
            </a:r>
          </a:p>
          <a:p>
            <a:pPr algn="l">
              <a:lnSpc>
                <a:spcPts val="2529"/>
              </a:lnSpc>
            </a:pPr>
            <a:r>
              <a:rPr lang="en-US" sz="180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Box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14603668" y="8781180"/>
            <a:ext cx="2587117" cy="611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9"/>
              </a:lnSpc>
            </a:pPr>
            <a:r>
              <a:rPr lang="en-US" sz="180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Sh</a:t>
            </a:r>
            <a:r>
              <a:rPr lang="en-US" sz="180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ock analysis in GPR  &amp; Oil prices</a:t>
            </a:r>
          </a:p>
        </p:txBody>
      </p:sp>
      <p:sp>
        <p:nvSpPr>
          <p:cNvPr name="TextBox 78" id="78"/>
          <p:cNvSpPr txBox="true"/>
          <p:nvPr/>
        </p:nvSpPr>
        <p:spPr>
          <a:xfrm rot="0">
            <a:off x="11430912" y="8804122"/>
            <a:ext cx="2587117" cy="611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9"/>
              </a:lnSpc>
            </a:pPr>
            <a:r>
              <a:rPr lang="en-US" sz="180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J</a:t>
            </a:r>
            <a:r>
              <a:rPr lang="en-US" sz="180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oint modeling of variables</a:t>
            </a:r>
          </a:p>
        </p:txBody>
      </p:sp>
      <p:sp>
        <p:nvSpPr>
          <p:cNvPr name="TextBox 79" id="79"/>
          <p:cNvSpPr txBox="true"/>
          <p:nvPr/>
        </p:nvSpPr>
        <p:spPr>
          <a:xfrm rot="0">
            <a:off x="8155069" y="8804122"/>
            <a:ext cx="3088966" cy="925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9"/>
              </a:lnSpc>
            </a:pPr>
            <a:r>
              <a:rPr lang="en-US" sz="180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GARCH(1,1) with Ljung </a:t>
            </a:r>
          </a:p>
          <a:p>
            <a:pPr algn="l">
              <a:lnSpc>
                <a:spcPts val="2529"/>
              </a:lnSpc>
            </a:pPr>
            <a:r>
              <a:rPr lang="en-US" sz="180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Box</a:t>
            </a:r>
          </a:p>
          <a:p>
            <a:pPr algn="l">
              <a:lnSpc>
                <a:spcPts val="2529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81749" y="1444357"/>
            <a:ext cx="17524501" cy="8842643"/>
          </a:xfrm>
          <a:custGeom>
            <a:avLst/>
            <a:gdLst/>
            <a:ahLst/>
            <a:cxnLst/>
            <a:rect r="r" b="b" t="t" l="l"/>
            <a:pathLst>
              <a:path h="8842643" w="17524501">
                <a:moveTo>
                  <a:pt x="0" y="0"/>
                </a:moveTo>
                <a:lnTo>
                  <a:pt x="17524502" y="0"/>
                </a:lnTo>
                <a:lnTo>
                  <a:pt x="17524502" y="8842643"/>
                </a:lnTo>
                <a:lnTo>
                  <a:pt x="0" y="884264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2063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919162" y="289003"/>
            <a:ext cx="8449676" cy="10057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305"/>
              </a:lnSpc>
              <a:spcBef>
                <a:spcPct val="0"/>
              </a:spcBef>
            </a:pPr>
            <a:r>
              <a:rPr lang="en-US" sz="6853" spc="342">
                <a:solidFill>
                  <a:srgbClr val="2A2B39"/>
                </a:solidFill>
                <a:latin typeface="Ballpoint"/>
                <a:ea typeface="Ballpoint"/>
                <a:cs typeface="Ballpoint"/>
                <a:sym typeface="Ballpoint"/>
              </a:rPr>
              <a:t>DATA INFO &amp; EVENT DUMMIES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2750" y="2026564"/>
            <a:ext cx="18142501" cy="7597172"/>
          </a:xfrm>
          <a:custGeom>
            <a:avLst/>
            <a:gdLst/>
            <a:ahLst/>
            <a:cxnLst/>
            <a:rect r="r" b="b" t="t" l="l"/>
            <a:pathLst>
              <a:path h="7597172" w="18142501">
                <a:moveTo>
                  <a:pt x="0" y="0"/>
                </a:moveTo>
                <a:lnTo>
                  <a:pt x="18142500" y="0"/>
                </a:lnTo>
                <a:lnTo>
                  <a:pt x="18142500" y="7597172"/>
                </a:lnTo>
                <a:lnTo>
                  <a:pt x="0" y="75971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919162" y="289003"/>
            <a:ext cx="8449676" cy="10057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305"/>
              </a:lnSpc>
              <a:spcBef>
                <a:spcPct val="0"/>
              </a:spcBef>
            </a:pPr>
            <a:r>
              <a:rPr lang="en-US" sz="6853" spc="342">
                <a:solidFill>
                  <a:srgbClr val="2A2B39"/>
                </a:solidFill>
                <a:latin typeface="Ballpoint"/>
                <a:ea typeface="Ballpoint"/>
                <a:cs typeface="Ballpoint"/>
                <a:sym typeface="Ballpoint"/>
              </a:rPr>
              <a:t>FEATURE ENGINEERING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1868459"/>
            <a:ext cx="20456308" cy="7389841"/>
          </a:xfrm>
          <a:custGeom>
            <a:avLst/>
            <a:gdLst/>
            <a:ahLst/>
            <a:cxnLst/>
            <a:rect r="r" b="b" t="t" l="l"/>
            <a:pathLst>
              <a:path h="7389841" w="20456308">
                <a:moveTo>
                  <a:pt x="0" y="0"/>
                </a:moveTo>
                <a:lnTo>
                  <a:pt x="20456308" y="0"/>
                </a:lnTo>
                <a:lnTo>
                  <a:pt x="20456308" y="7389841"/>
                </a:lnTo>
                <a:lnTo>
                  <a:pt x="0" y="738984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071562" y="441403"/>
            <a:ext cx="8449676" cy="10057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305"/>
              </a:lnSpc>
              <a:spcBef>
                <a:spcPct val="0"/>
              </a:spcBef>
            </a:pPr>
            <a:r>
              <a:rPr lang="en-US" sz="6853" spc="342">
                <a:solidFill>
                  <a:srgbClr val="2A2B39"/>
                </a:solidFill>
                <a:latin typeface="Ballpoint"/>
                <a:ea typeface="Ballpoint"/>
                <a:cs typeface="Ballpoint"/>
                <a:sym typeface="Ballpoint"/>
              </a:rPr>
              <a:t>DESCRIPTIVE STATISTICS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1646307"/>
            <a:ext cx="19100722" cy="5873472"/>
          </a:xfrm>
          <a:custGeom>
            <a:avLst/>
            <a:gdLst/>
            <a:ahLst/>
            <a:cxnLst/>
            <a:rect r="r" b="b" t="t" l="l"/>
            <a:pathLst>
              <a:path h="5873472" w="19100722">
                <a:moveTo>
                  <a:pt x="0" y="0"/>
                </a:moveTo>
                <a:lnTo>
                  <a:pt x="19100722" y="0"/>
                </a:lnTo>
                <a:lnTo>
                  <a:pt x="19100722" y="5873472"/>
                </a:lnTo>
                <a:lnTo>
                  <a:pt x="0" y="58734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079103" y="1190403"/>
            <a:ext cx="14942517" cy="1290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557"/>
              </a:lnSpc>
              <a:spcBef>
                <a:spcPct val="0"/>
              </a:spcBef>
            </a:pPr>
            <a:r>
              <a:rPr lang="en-US" sz="4953" spc="247">
                <a:solidFill>
                  <a:srgbClr val="2A2B39"/>
                </a:solidFill>
                <a:latin typeface="Ballpoint"/>
                <a:ea typeface="Ballpoint"/>
                <a:cs typeface="Ballpoint"/>
                <a:sym typeface="Ballpoint"/>
              </a:rPr>
              <a:t>OIL PRICE OVER TIME WITH GEOPOLITICAL EVENTS</a:t>
            </a:r>
          </a:p>
          <a:p>
            <a:pPr algn="ctr" marL="0" indent="0" lvl="0">
              <a:lnSpc>
                <a:spcPts val="4557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1028700"/>
            <a:ext cx="19062225" cy="4670245"/>
          </a:xfrm>
          <a:custGeom>
            <a:avLst/>
            <a:gdLst/>
            <a:ahLst/>
            <a:cxnLst/>
            <a:rect r="r" b="b" t="t" l="l"/>
            <a:pathLst>
              <a:path h="4670245" w="19062225">
                <a:moveTo>
                  <a:pt x="0" y="0"/>
                </a:moveTo>
                <a:lnTo>
                  <a:pt x="19062225" y="0"/>
                </a:lnTo>
                <a:lnTo>
                  <a:pt x="19062225" y="4670245"/>
                </a:lnTo>
                <a:lnTo>
                  <a:pt x="0" y="46702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5698945"/>
            <a:ext cx="19062225" cy="4670245"/>
          </a:xfrm>
          <a:custGeom>
            <a:avLst/>
            <a:gdLst/>
            <a:ahLst/>
            <a:cxnLst/>
            <a:rect r="r" b="b" t="t" l="l"/>
            <a:pathLst>
              <a:path h="4670245" w="19062225">
                <a:moveTo>
                  <a:pt x="0" y="0"/>
                </a:moveTo>
                <a:lnTo>
                  <a:pt x="19062225" y="0"/>
                </a:lnTo>
                <a:lnTo>
                  <a:pt x="19062225" y="4670245"/>
                </a:lnTo>
                <a:lnTo>
                  <a:pt x="0" y="467024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059854" y="220194"/>
            <a:ext cx="14942517" cy="719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557"/>
              </a:lnSpc>
              <a:spcBef>
                <a:spcPct val="0"/>
              </a:spcBef>
            </a:pPr>
            <a:r>
              <a:rPr lang="en-US" sz="4953" spc="247">
                <a:solidFill>
                  <a:srgbClr val="2A2B39"/>
                </a:solidFill>
                <a:latin typeface="Ballpoint"/>
                <a:ea typeface="Ballpoint"/>
                <a:cs typeface="Ballpoint"/>
                <a:sym typeface="Ballpoint"/>
              </a:rPr>
              <a:t>ROLLING VOLATILITY &amp; LOG RETURNS TREND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590134" y="0"/>
            <a:ext cx="12818692" cy="10287000"/>
          </a:xfrm>
          <a:custGeom>
            <a:avLst/>
            <a:gdLst/>
            <a:ahLst/>
            <a:cxnLst/>
            <a:rect r="r" b="b" t="t" l="l"/>
            <a:pathLst>
              <a:path h="10287000" w="12818692">
                <a:moveTo>
                  <a:pt x="0" y="0"/>
                </a:moveTo>
                <a:lnTo>
                  <a:pt x="12818692" y="0"/>
                </a:lnTo>
                <a:lnTo>
                  <a:pt x="12818692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054848" y="1028700"/>
            <a:ext cx="14178304" cy="9258300"/>
          </a:xfrm>
          <a:custGeom>
            <a:avLst/>
            <a:gdLst/>
            <a:ahLst/>
            <a:cxnLst/>
            <a:rect r="r" b="b" t="t" l="l"/>
            <a:pathLst>
              <a:path h="9258300" w="14178304">
                <a:moveTo>
                  <a:pt x="0" y="0"/>
                </a:moveTo>
                <a:lnTo>
                  <a:pt x="14178304" y="0"/>
                </a:lnTo>
                <a:lnTo>
                  <a:pt x="14178304" y="9258300"/>
                </a:lnTo>
                <a:lnTo>
                  <a:pt x="0" y="92583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2413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452229" y="186412"/>
            <a:ext cx="14942517" cy="719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557"/>
              </a:lnSpc>
              <a:spcBef>
                <a:spcPct val="0"/>
              </a:spcBef>
            </a:pPr>
            <a:r>
              <a:rPr lang="en-US" sz="4953" spc="247">
                <a:solidFill>
                  <a:srgbClr val="2A2B39"/>
                </a:solidFill>
                <a:latin typeface="Ballpoint"/>
                <a:ea typeface="Ballpoint"/>
                <a:cs typeface="Ballpoint"/>
                <a:sym typeface="Ballpoint"/>
              </a:rPr>
              <a:t>STATIONARITY TESTS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40326" y="1028700"/>
            <a:ext cx="18428326" cy="5676476"/>
          </a:xfrm>
          <a:custGeom>
            <a:avLst/>
            <a:gdLst/>
            <a:ahLst/>
            <a:cxnLst/>
            <a:rect r="r" b="b" t="t" l="l"/>
            <a:pathLst>
              <a:path h="5676476" w="18428326">
                <a:moveTo>
                  <a:pt x="0" y="0"/>
                </a:moveTo>
                <a:lnTo>
                  <a:pt x="18428326" y="0"/>
                </a:lnTo>
                <a:lnTo>
                  <a:pt x="18428326" y="5676476"/>
                </a:lnTo>
                <a:lnTo>
                  <a:pt x="0" y="567647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-10209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7187598"/>
            <a:ext cx="9663380" cy="3099402"/>
          </a:xfrm>
          <a:custGeom>
            <a:avLst/>
            <a:gdLst/>
            <a:ahLst/>
            <a:cxnLst/>
            <a:rect r="r" b="b" t="t" l="l"/>
            <a:pathLst>
              <a:path h="3099402" w="9663380">
                <a:moveTo>
                  <a:pt x="0" y="0"/>
                </a:moveTo>
                <a:lnTo>
                  <a:pt x="9663380" y="0"/>
                </a:lnTo>
                <a:lnTo>
                  <a:pt x="9663380" y="3099402"/>
                </a:lnTo>
                <a:lnTo>
                  <a:pt x="0" y="309940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94084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1385327" y="6851437"/>
            <a:ext cx="5443851" cy="3435563"/>
          </a:xfrm>
          <a:custGeom>
            <a:avLst/>
            <a:gdLst/>
            <a:ahLst/>
            <a:cxnLst/>
            <a:rect r="r" b="b" t="t" l="l"/>
            <a:pathLst>
              <a:path h="3435563" w="5443851">
                <a:moveTo>
                  <a:pt x="0" y="0"/>
                </a:moveTo>
                <a:lnTo>
                  <a:pt x="5443851" y="0"/>
                </a:lnTo>
                <a:lnTo>
                  <a:pt x="5443851" y="3435563"/>
                </a:lnTo>
                <a:lnTo>
                  <a:pt x="0" y="343556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604629" y="338812"/>
            <a:ext cx="14942517" cy="1290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57"/>
              </a:lnSpc>
            </a:pPr>
            <a:r>
              <a:rPr lang="en-US" sz="4953" spc="247">
                <a:solidFill>
                  <a:srgbClr val="2A2B39"/>
                </a:solidFill>
                <a:latin typeface="Ballpoint"/>
                <a:ea typeface="Ballpoint"/>
                <a:cs typeface="Ballpoint"/>
                <a:sym typeface="Ballpoint"/>
              </a:rPr>
              <a:t>BAI-PERRON MULTIPLE STRUCTURAL BREAK TEST</a:t>
            </a:r>
          </a:p>
          <a:p>
            <a:pPr algn="ctr" marL="0" indent="0" lvl="0">
              <a:lnSpc>
                <a:spcPts val="4557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1028700"/>
            <a:ext cx="13625166" cy="10287000"/>
          </a:xfrm>
          <a:custGeom>
            <a:avLst/>
            <a:gdLst/>
            <a:ahLst/>
            <a:cxnLst/>
            <a:rect r="r" b="b" t="t" l="l"/>
            <a:pathLst>
              <a:path h="10287000" w="13625166">
                <a:moveTo>
                  <a:pt x="0" y="0"/>
                </a:moveTo>
                <a:lnTo>
                  <a:pt x="13625166" y="0"/>
                </a:lnTo>
                <a:lnTo>
                  <a:pt x="1362516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935794" y="6005503"/>
            <a:ext cx="6352206" cy="4216276"/>
          </a:xfrm>
          <a:custGeom>
            <a:avLst/>
            <a:gdLst/>
            <a:ahLst/>
            <a:cxnLst/>
            <a:rect r="r" b="b" t="t" l="l"/>
            <a:pathLst>
              <a:path h="4216276" w="6352206">
                <a:moveTo>
                  <a:pt x="0" y="0"/>
                </a:moveTo>
                <a:lnTo>
                  <a:pt x="6352206" y="0"/>
                </a:lnTo>
                <a:lnTo>
                  <a:pt x="6352206" y="4216277"/>
                </a:lnTo>
                <a:lnTo>
                  <a:pt x="0" y="421627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416975" y="236172"/>
            <a:ext cx="14942517" cy="719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557"/>
              </a:lnSpc>
              <a:spcBef>
                <a:spcPct val="0"/>
              </a:spcBef>
            </a:pPr>
            <a:r>
              <a:rPr lang="en-US" sz="4953" spc="247">
                <a:solidFill>
                  <a:srgbClr val="2A2B39"/>
                </a:solidFill>
                <a:latin typeface="Ballpoint"/>
                <a:ea typeface="Ballpoint"/>
                <a:cs typeface="Ballpoint"/>
                <a:sym typeface="Ballpoint"/>
              </a:rPr>
              <a:t>OLS REGRESSION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94638" y="1684901"/>
            <a:ext cx="17377978" cy="8602099"/>
          </a:xfrm>
          <a:custGeom>
            <a:avLst/>
            <a:gdLst/>
            <a:ahLst/>
            <a:cxnLst/>
            <a:rect r="r" b="b" t="t" l="l"/>
            <a:pathLst>
              <a:path h="8602099" w="17377978">
                <a:moveTo>
                  <a:pt x="0" y="0"/>
                </a:moveTo>
                <a:lnTo>
                  <a:pt x="17377978" y="0"/>
                </a:lnTo>
                <a:lnTo>
                  <a:pt x="17377978" y="8602099"/>
                </a:lnTo>
                <a:lnTo>
                  <a:pt x="0" y="860209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757029" y="491212"/>
            <a:ext cx="14942517" cy="1290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57"/>
              </a:lnSpc>
            </a:pPr>
            <a:r>
              <a:rPr lang="en-US" sz="4953" spc="247">
                <a:solidFill>
                  <a:srgbClr val="2A2B39"/>
                </a:solidFill>
                <a:latin typeface="Ballpoint"/>
                <a:ea typeface="Ballpoint"/>
                <a:cs typeface="Ballpoint"/>
                <a:sym typeface="Ballpoint"/>
              </a:rPr>
              <a:t>MULTICOLLINEARITY TEST (VIF)</a:t>
            </a:r>
          </a:p>
          <a:p>
            <a:pPr algn="ctr" marL="0" indent="0" lvl="0">
              <a:lnSpc>
                <a:spcPts val="4557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2688473"/>
            <a:ext cx="18155495" cy="4538874"/>
          </a:xfrm>
          <a:custGeom>
            <a:avLst/>
            <a:gdLst/>
            <a:ahLst/>
            <a:cxnLst/>
            <a:rect r="r" b="b" t="t" l="l"/>
            <a:pathLst>
              <a:path h="4538874" w="18155495">
                <a:moveTo>
                  <a:pt x="0" y="0"/>
                </a:moveTo>
                <a:lnTo>
                  <a:pt x="18155495" y="0"/>
                </a:lnTo>
                <a:lnTo>
                  <a:pt x="18155495" y="4538874"/>
                </a:lnTo>
                <a:lnTo>
                  <a:pt x="0" y="453887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909429" y="643612"/>
            <a:ext cx="14942517" cy="719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557"/>
              </a:lnSpc>
              <a:spcBef>
                <a:spcPct val="0"/>
              </a:spcBef>
            </a:pPr>
            <a:r>
              <a:rPr lang="en-US" sz="4953" spc="247">
                <a:solidFill>
                  <a:srgbClr val="2A2B39"/>
                </a:solidFill>
                <a:latin typeface="Ballpoint"/>
                <a:ea typeface="Ballpoint"/>
                <a:cs typeface="Ballpoint"/>
                <a:sym typeface="Ballpoint"/>
              </a:rPr>
              <a:t>HETEROSKEDASTICITY TEST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10331423" cy="3650139"/>
          </a:xfrm>
          <a:custGeom>
            <a:avLst/>
            <a:gdLst/>
            <a:ahLst/>
            <a:cxnLst/>
            <a:rect r="r" b="b" t="t" l="l"/>
            <a:pathLst>
              <a:path h="3650139" w="10331423">
                <a:moveTo>
                  <a:pt x="0" y="0"/>
                </a:moveTo>
                <a:lnTo>
                  <a:pt x="10331423" y="0"/>
                </a:lnTo>
                <a:lnTo>
                  <a:pt x="10331423" y="3650139"/>
                </a:lnTo>
                <a:lnTo>
                  <a:pt x="0" y="36501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-92822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3650139"/>
            <a:ext cx="14872558" cy="5045212"/>
          </a:xfrm>
          <a:custGeom>
            <a:avLst/>
            <a:gdLst/>
            <a:ahLst/>
            <a:cxnLst/>
            <a:rect r="r" b="b" t="t" l="l"/>
            <a:pathLst>
              <a:path h="5045212" w="14872558">
                <a:moveTo>
                  <a:pt x="0" y="0"/>
                </a:moveTo>
                <a:lnTo>
                  <a:pt x="14872558" y="0"/>
                </a:lnTo>
                <a:lnTo>
                  <a:pt x="14872558" y="5045212"/>
                </a:lnTo>
                <a:lnTo>
                  <a:pt x="0" y="504521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18" t="-102503" r="-418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0" y="8695351"/>
            <a:ext cx="15916493" cy="1591649"/>
          </a:xfrm>
          <a:custGeom>
            <a:avLst/>
            <a:gdLst/>
            <a:ahLst/>
            <a:cxnLst/>
            <a:rect r="r" b="b" t="t" l="l"/>
            <a:pathLst>
              <a:path h="1591649" w="15916493">
                <a:moveTo>
                  <a:pt x="0" y="0"/>
                </a:moveTo>
                <a:lnTo>
                  <a:pt x="15916493" y="0"/>
                </a:lnTo>
                <a:lnTo>
                  <a:pt x="15916493" y="1591649"/>
                </a:lnTo>
                <a:lnTo>
                  <a:pt x="0" y="159164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865092" y="309620"/>
            <a:ext cx="14942517" cy="719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557"/>
              </a:lnSpc>
              <a:spcBef>
                <a:spcPct val="0"/>
              </a:spcBef>
            </a:pPr>
            <a:r>
              <a:rPr lang="en-US" sz="4953" spc="247">
                <a:solidFill>
                  <a:srgbClr val="2A2B39"/>
                </a:solidFill>
                <a:latin typeface="Ballpoint"/>
                <a:ea typeface="Ballpoint"/>
                <a:cs typeface="Ballpoint"/>
                <a:sym typeface="Ballpoint"/>
              </a:rPr>
              <a:t>ACF &amp; PACF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865092" y="1290901"/>
            <a:ext cx="14942517" cy="719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557"/>
              </a:lnSpc>
              <a:spcBef>
                <a:spcPct val="0"/>
              </a:spcBef>
            </a:pPr>
            <a:r>
              <a:rPr lang="en-US" sz="4953" spc="247">
                <a:solidFill>
                  <a:srgbClr val="2A2B39"/>
                </a:solidFill>
                <a:latin typeface="Ballpoint"/>
                <a:ea typeface="Ballpoint"/>
                <a:cs typeface="Ballpoint"/>
                <a:sym typeface="Ballpoint"/>
              </a:rPr>
              <a:t>LOG RETURNS &amp; SQUARE RETURNS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0566" y="3906070"/>
            <a:ext cx="6152584" cy="2474859"/>
          </a:xfrm>
          <a:custGeom>
            <a:avLst/>
            <a:gdLst/>
            <a:ahLst/>
            <a:cxnLst/>
            <a:rect r="r" b="b" t="t" l="l"/>
            <a:pathLst>
              <a:path h="2474859" w="6152584">
                <a:moveTo>
                  <a:pt x="0" y="0"/>
                </a:moveTo>
                <a:lnTo>
                  <a:pt x="6152584" y="0"/>
                </a:lnTo>
                <a:lnTo>
                  <a:pt x="6152584" y="2474860"/>
                </a:lnTo>
                <a:lnTo>
                  <a:pt x="0" y="247486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96218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132018" y="0"/>
            <a:ext cx="12155982" cy="10287000"/>
          </a:xfrm>
          <a:custGeom>
            <a:avLst/>
            <a:gdLst/>
            <a:ahLst/>
            <a:cxnLst/>
            <a:rect r="r" b="b" t="t" l="l"/>
            <a:pathLst>
              <a:path h="10287000" w="12155982">
                <a:moveTo>
                  <a:pt x="0" y="0"/>
                </a:moveTo>
                <a:lnTo>
                  <a:pt x="12155982" y="0"/>
                </a:lnTo>
                <a:lnTo>
                  <a:pt x="12155982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-4415533" y="1609702"/>
            <a:ext cx="14942517" cy="719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557"/>
              </a:lnSpc>
              <a:spcBef>
                <a:spcPct val="0"/>
              </a:spcBef>
            </a:pPr>
            <a:r>
              <a:rPr lang="en-US" sz="4953" spc="247">
                <a:solidFill>
                  <a:srgbClr val="2A2B39"/>
                </a:solidFill>
                <a:latin typeface="Ballpoint"/>
                <a:ea typeface="Ballpoint"/>
                <a:cs typeface="Ballpoint"/>
                <a:sym typeface="Ballpoint"/>
              </a:rPr>
              <a:t>ARCH &amp; GARCH RESULTS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45720"/>
            <a:ext cx="18288000" cy="10241280"/>
          </a:xfrm>
          <a:custGeom>
            <a:avLst/>
            <a:gdLst/>
            <a:ahLst/>
            <a:cxnLst/>
            <a:rect r="r" b="b" t="t" l="l"/>
            <a:pathLst>
              <a:path h="10241280" w="18288000">
                <a:moveTo>
                  <a:pt x="0" y="0"/>
                </a:moveTo>
                <a:lnTo>
                  <a:pt x="18288000" y="0"/>
                </a:lnTo>
                <a:lnTo>
                  <a:pt x="18288000" y="10241280"/>
                </a:lnTo>
                <a:lnTo>
                  <a:pt x="0" y="102412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874035" y="828882"/>
            <a:ext cx="14539929" cy="10201986"/>
          </a:xfrm>
          <a:custGeom>
            <a:avLst/>
            <a:gdLst/>
            <a:ahLst/>
            <a:cxnLst/>
            <a:rect r="r" b="b" t="t" l="l"/>
            <a:pathLst>
              <a:path h="10201986" w="14539929">
                <a:moveTo>
                  <a:pt x="0" y="0"/>
                </a:moveTo>
                <a:lnTo>
                  <a:pt x="14539930" y="0"/>
                </a:lnTo>
                <a:lnTo>
                  <a:pt x="14539930" y="10201986"/>
                </a:lnTo>
                <a:lnTo>
                  <a:pt x="0" y="102019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833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471448" y="28575"/>
            <a:ext cx="14942517" cy="1290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57"/>
              </a:lnSpc>
            </a:pPr>
            <a:r>
              <a:rPr lang="en-US" sz="4953" spc="247">
                <a:solidFill>
                  <a:srgbClr val="2A2B39"/>
                </a:solidFill>
                <a:latin typeface="Ballpoint"/>
                <a:ea typeface="Ballpoint"/>
                <a:cs typeface="Ballpoint"/>
                <a:sym typeface="Ballpoint"/>
              </a:rPr>
              <a:t>GARCH VS GJR-GARCH VS EGARCH COMPARISON</a:t>
            </a:r>
          </a:p>
          <a:p>
            <a:pPr algn="ctr" marL="0" indent="0" lvl="0">
              <a:lnSpc>
                <a:spcPts val="4557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5806440"/>
            <a:ext cx="18288000" cy="4480560"/>
          </a:xfrm>
          <a:custGeom>
            <a:avLst/>
            <a:gdLst/>
            <a:ahLst/>
            <a:cxnLst/>
            <a:rect r="r" b="b" t="t" l="l"/>
            <a:pathLst>
              <a:path h="4480560" w="18288000">
                <a:moveTo>
                  <a:pt x="0" y="0"/>
                </a:moveTo>
                <a:lnTo>
                  <a:pt x="18288000" y="0"/>
                </a:lnTo>
                <a:lnTo>
                  <a:pt x="18288000" y="4480560"/>
                </a:lnTo>
                <a:lnTo>
                  <a:pt x="0" y="448056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493371" y="793326"/>
            <a:ext cx="11301259" cy="5013114"/>
          </a:xfrm>
          <a:custGeom>
            <a:avLst/>
            <a:gdLst/>
            <a:ahLst/>
            <a:cxnLst/>
            <a:rect r="r" b="b" t="t" l="l"/>
            <a:pathLst>
              <a:path h="5013114" w="11301259">
                <a:moveTo>
                  <a:pt x="0" y="0"/>
                </a:moveTo>
                <a:lnTo>
                  <a:pt x="11301258" y="0"/>
                </a:lnTo>
                <a:lnTo>
                  <a:pt x="11301258" y="5013114"/>
                </a:lnTo>
                <a:lnTo>
                  <a:pt x="0" y="50131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-12435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564235" y="146123"/>
            <a:ext cx="12716555" cy="10940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78"/>
              </a:lnSpc>
            </a:pPr>
            <a:r>
              <a:rPr lang="en-US" sz="4215" spc="210">
                <a:solidFill>
                  <a:srgbClr val="2A2B39"/>
                </a:solidFill>
                <a:latin typeface="Ballpoint"/>
                <a:ea typeface="Ballpoint"/>
                <a:cs typeface="Ballpoint"/>
                <a:sym typeface="Ballpoint"/>
              </a:rPr>
              <a:t>GARCH(1,1) RESIDUAL DIAGNOSTICS</a:t>
            </a:r>
          </a:p>
          <a:p>
            <a:pPr algn="ctr" marL="0" indent="0" lvl="0">
              <a:lnSpc>
                <a:spcPts val="3878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92009" y="1335009"/>
            <a:ext cx="8951991" cy="8951991"/>
          </a:xfrm>
          <a:custGeom>
            <a:avLst/>
            <a:gdLst/>
            <a:ahLst/>
            <a:cxnLst/>
            <a:rect r="r" b="b" t="t" l="l"/>
            <a:pathLst>
              <a:path h="8951991" w="8951991">
                <a:moveTo>
                  <a:pt x="0" y="0"/>
                </a:moveTo>
                <a:lnTo>
                  <a:pt x="8951991" y="0"/>
                </a:lnTo>
                <a:lnTo>
                  <a:pt x="8951991" y="8951991"/>
                </a:lnTo>
                <a:lnTo>
                  <a:pt x="0" y="895199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291024" y="1335009"/>
            <a:ext cx="8996976" cy="8951991"/>
          </a:xfrm>
          <a:custGeom>
            <a:avLst/>
            <a:gdLst/>
            <a:ahLst/>
            <a:cxnLst/>
            <a:rect r="r" b="b" t="t" l="l"/>
            <a:pathLst>
              <a:path h="8951991" w="8996976">
                <a:moveTo>
                  <a:pt x="0" y="0"/>
                </a:moveTo>
                <a:lnTo>
                  <a:pt x="8996976" y="0"/>
                </a:lnTo>
                <a:lnTo>
                  <a:pt x="8996976" y="8951991"/>
                </a:lnTo>
                <a:lnTo>
                  <a:pt x="0" y="895199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653796" y="495954"/>
            <a:ext cx="12716555" cy="10940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78"/>
              </a:lnSpc>
            </a:pPr>
            <a:r>
              <a:rPr lang="en-US" sz="4215" spc="210">
                <a:solidFill>
                  <a:srgbClr val="2A2B39"/>
                </a:solidFill>
                <a:latin typeface="Ballpoint"/>
                <a:ea typeface="Ballpoint"/>
                <a:cs typeface="Ballpoint"/>
                <a:sym typeface="Ballpoint"/>
              </a:rPr>
              <a:t>VAR MODEL + IRF</a:t>
            </a:r>
          </a:p>
          <a:p>
            <a:pPr algn="ctr" marL="0" indent="0" lvl="0">
              <a:lnSpc>
                <a:spcPts val="3878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DAHGKoiFzjU</dc:identifier>
  <dcterms:modified xsi:type="dcterms:W3CDTF">2011-08-01T06:04:30Z</dcterms:modified>
  <cp:revision>1</cp:revision>
  <dc:title>Econometric Analysis</dc:title>
</cp:coreProperties>
</file>